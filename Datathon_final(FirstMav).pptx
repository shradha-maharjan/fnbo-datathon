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304" r:id="rId5"/>
    <p:sldId id="305" r:id="rId6"/>
    <p:sldId id="293" r:id="rId7"/>
    <p:sldId id="260" r:id="rId8"/>
    <p:sldId id="263" r:id="rId9"/>
    <p:sldId id="266" r:id="rId10"/>
    <p:sldId id="268" r:id="rId11"/>
    <p:sldId id="269" r:id="rId12"/>
    <p:sldId id="265" r:id="rId13"/>
    <p:sldId id="271" r:id="rId14"/>
    <p:sldId id="272" r:id="rId15"/>
    <p:sldId id="273" r:id="rId16"/>
    <p:sldId id="299" r:id="rId17"/>
    <p:sldId id="283" r:id="rId18"/>
    <p:sldId id="284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91" r:id="rId27"/>
    <p:sldId id="285" r:id="rId28"/>
    <p:sldId id="306" r:id="rId29"/>
    <p:sldId id="288" r:id="rId30"/>
    <p:sldId id="292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441"/>
    <a:srgbClr val="FFFFFF"/>
    <a:srgbClr val="1C191A"/>
    <a:srgbClr val="231E20"/>
    <a:srgbClr val="DD1E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CB500-6F51-C092-115E-03FF6A58952B}" v="232" dt="2025-10-26T22:38:09.603"/>
    <p1510:client id="{29EF2050-9333-40A6-DEC6-7E333817AF08}" v="2184" dt="2025-10-26T05:51:17.747"/>
    <p1510:client id="{3F957B45-2FCB-4BB9-CBBD-1FF2889BADB3}" v="491" dt="2025-10-27T03:34:51.788"/>
    <p1510:client id="{4E41FF02-7F07-47CD-FB16-C9F93F8C3F09}" v="524" dt="2025-10-27T02:53:55.060"/>
    <p1510:client id="{4FDF1F75-7F5B-5B21-A7DB-B6C374F89118}" v="228" dt="2025-10-27T02:38:16.620"/>
    <p1510:client id="{67BA4FA6-8E73-43ED-F3C0-39FBD10A7B67}" v="196" dt="2025-10-27T02:19:25.434"/>
    <p1510:client id="{6FE5A1C2-E157-4B2B-273E-2874B334F3A0}" v="177" dt="2025-10-27T04:27:35.097"/>
    <p1510:client id="{8BFA376D-FDBC-3DD4-8855-6983492551F0}" v="986" dt="2025-10-27T04:47:52.671"/>
    <p1510:client id="{90D5F111-F1CA-9E9D-C756-A6766AF9B814}" v="411" dt="2025-10-26T23:58:59.781"/>
    <p1510:client id="{A1E94CD6-E664-414A-2459-221540CD1217}" v="124" dt="2025-10-27T03:46:05.494"/>
    <p1510:client id="{A249EC17-8357-1F56-6E72-96F006A9FD98}" v="1" dt="2025-10-26T07:00:57.539"/>
    <p1510:client id="{AB50E243-EE1A-1540-0CD8-93E2D9B269CC}" v="45" dt="2025-10-27T04:45:02.786"/>
    <p1510:client id="{C6B7EAD0-CD6A-73B5-DF4C-0452A097D694}" v="638" dt="2025-10-27T04:24:54.041"/>
    <p1510:client id="{E3E514F3-3853-35AF-EF30-602513336432}" v="26" dt="2025-10-27T00:23:54.263"/>
    <p1510:client id="{E8AEB550-12CE-5AFA-CD54-7789BC7BE709}" v="187" dt="2025-10-27T04:48:31.6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45876" y="6279286"/>
            <a:ext cx="629920" cy="335280"/>
          </a:xfrm>
          <a:custGeom>
            <a:avLst/>
            <a:gdLst/>
            <a:ahLst/>
            <a:cxnLst/>
            <a:rect l="l" t="t" r="r" b="b"/>
            <a:pathLst>
              <a:path w="629920" h="335279">
                <a:moveTo>
                  <a:pt x="367372" y="192074"/>
                </a:moveTo>
                <a:lnTo>
                  <a:pt x="361543" y="153111"/>
                </a:lnTo>
                <a:lnTo>
                  <a:pt x="344665" y="123964"/>
                </a:lnTo>
                <a:lnTo>
                  <a:pt x="317703" y="105689"/>
                </a:lnTo>
                <a:lnTo>
                  <a:pt x="281571" y="99364"/>
                </a:lnTo>
                <a:lnTo>
                  <a:pt x="263055" y="101434"/>
                </a:lnTo>
                <a:lnTo>
                  <a:pt x="246265" y="107391"/>
                </a:lnTo>
                <a:lnTo>
                  <a:pt x="231521" y="116814"/>
                </a:lnTo>
                <a:lnTo>
                  <a:pt x="219151" y="129311"/>
                </a:lnTo>
                <a:lnTo>
                  <a:pt x="219151" y="104127"/>
                </a:lnTo>
                <a:lnTo>
                  <a:pt x="100533" y="104127"/>
                </a:lnTo>
                <a:lnTo>
                  <a:pt x="100533" y="98882"/>
                </a:lnTo>
                <a:lnTo>
                  <a:pt x="101879" y="77457"/>
                </a:lnTo>
                <a:lnTo>
                  <a:pt x="107683" y="65074"/>
                </a:lnTo>
                <a:lnTo>
                  <a:pt x="120624" y="59372"/>
                </a:lnTo>
                <a:lnTo>
                  <a:pt x="143383" y="58000"/>
                </a:lnTo>
                <a:lnTo>
                  <a:pt x="143383" y="0"/>
                </a:lnTo>
                <a:lnTo>
                  <a:pt x="138176" y="0"/>
                </a:lnTo>
                <a:lnTo>
                  <a:pt x="90652" y="5016"/>
                </a:lnTo>
                <a:lnTo>
                  <a:pt x="59969" y="21577"/>
                </a:lnTo>
                <a:lnTo>
                  <a:pt x="43497" y="51955"/>
                </a:lnTo>
                <a:lnTo>
                  <a:pt x="38595" y="98412"/>
                </a:lnTo>
                <a:lnTo>
                  <a:pt x="38595" y="104127"/>
                </a:lnTo>
                <a:lnTo>
                  <a:pt x="0" y="104127"/>
                </a:lnTo>
                <a:lnTo>
                  <a:pt x="0" y="159740"/>
                </a:lnTo>
                <a:lnTo>
                  <a:pt x="38595" y="159740"/>
                </a:lnTo>
                <a:lnTo>
                  <a:pt x="38595" y="329933"/>
                </a:lnTo>
                <a:lnTo>
                  <a:pt x="100533" y="329933"/>
                </a:lnTo>
                <a:lnTo>
                  <a:pt x="100533" y="159740"/>
                </a:lnTo>
                <a:lnTo>
                  <a:pt x="157734" y="159740"/>
                </a:lnTo>
                <a:lnTo>
                  <a:pt x="157734" y="329933"/>
                </a:lnTo>
                <a:lnTo>
                  <a:pt x="219659" y="329933"/>
                </a:lnTo>
                <a:lnTo>
                  <a:pt x="219659" y="206806"/>
                </a:lnTo>
                <a:lnTo>
                  <a:pt x="223088" y="182295"/>
                </a:lnTo>
                <a:lnTo>
                  <a:pt x="232410" y="165442"/>
                </a:lnTo>
                <a:lnTo>
                  <a:pt x="246202" y="155727"/>
                </a:lnTo>
                <a:lnTo>
                  <a:pt x="263029" y="152615"/>
                </a:lnTo>
                <a:lnTo>
                  <a:pt x="280936" y="155829"/>
                </a:lnTo>
                <a:lnTo>
                  <a:pt x="293903" y="165150"/>
                </a:lnTo>
                <a:lnTo>
                  <a:pt x="301777" y="180086"/>
                </a:lnTo>
                <a:lnTo>
                  <a:pt x="304431" y="200152"/>
                </a:lnTo>
                <a:lnTo>
                  <a:pt x="304431" y="329933"/>
                </a:lnTo>
                <a:lnTo>
                  <a:pt x="367372" y="329933"/>
                </a:lnTo>
                <a:lnTo>
                  <a:pt x="367372" y="192074"/>
                </a:lnTo>
                <a:close/>
              </a:path>
              <a:path w="629920" h="335279">
                <a:moveTo>
                  <a:pt x="629399" y="217258"/>
                </a:moveTo>
                <a:lnTo>
                  <a:pt x="619518" y="164947"/>
                </a:lnTo>
                <a:lnTo>
                  <a:pt x="613244" y="155943"/>
                </a:lnTo>
                <a:lnTo>
                  <a:pt x="594372" y="128841"/>
                </a:lnTo>
                <a:lnTo>
                  <a:pt x="593915" y="128181"/>
                </a:lnTo>
                <a:lnTo>
                  <a:pt x="568883" y="112776"/>
                </a:lnTo>
                <a:lnTo>
                  <a:pt x="568883" y="216789"/>
                </a:lnTo>
                <a:lnTo>
                  <a:pt x="564261" y="240944"/>
                </a:lnTo>
                <a:lnTo>
                  <a:pt x="551497" y="260235"/>
                </a:lnTo>
                <a:lnTo>
                  <a:pt x="532307" y="273011"/>
                </a:lnTo>
                <a:lnTo>
                  <a:pt x="508355" y="277647"/>
                </a:lnTo>
                <a:lnTo>
                  <a:pt x="482625" y="271691"/>
                </a:lnTo>
                <a:lnTo>
                  <a:pt x="463181" y="255714"/>
                </a:lnTo>
                <a:lnTo>
                  <a:pt x="452031" y="232511"/>
                </a:lnTo>
                <a:lnTo>
                  <a:pt x="451205" y="204901"/>
                </a:lnTo>
                <a:lnTo>
                  <a:pt x="458508" y="185089"/>
                </a:lnTo>
                <a:lnTo>
                  <a:pt x="472122" y="169367"/>
                </a:lnTo>
                <a:lnTo>
                  <a:pt x="490296" y="159181"/>
                </a:lnTo>
                <a:lnTo>
                  <a:pt x="511276" y="155943"/>
                </a:lnTo>
                <a:lnTo>
                  <a:pt x="534136" y="161302"/>
                </a:lnTo>
                <a:lnTo>
                  <a:pt x="552386" y="174244"/>
                </a:lnTo>
                <a:lnTo>
                  <a:pt x="564502" y="193243"/>
                </a:lnTo>
                <a:lnTo>
                  <a:pt x="568883" y="216789"/>
                </a:lnTo>
                <a:lnTo>
                  <a:pt x="568883" y="112776"/>
                </a:lnTo>
                <a:lnTo>
                  <a:pt x="558673" y="106489"/>
                </a:lnTo>
                <a:lnTo>
                  <a:pt x="519849" y="99364"/>
                </a:lnTo>
                <a:lnTo>
                  <a:pt x="498614" y="101498"/>
                </a:lnTo>
                <a:lnTo>
                  <a:pt x="480098" y="107505"/>
                </a:lnTo>
                <a:lnTo>
                  <a:pt x="464540" y="116814"/>
                </a:lnTo>
                <a:lnTo>
                  <a:pt x="452158" y="128841"/>
                </a:lnTo>
                <a:lnTo>
                  <a:pt x="452158" y="0"/>
                </a:lnTo>
                <a:lnTo>
                  <a:pt x="389724" y="0"/>
                </a:lnTo>
                <a:lnTo>
                  <a:pt x="389724" y="329933"/>
                </a:lnTo>
                <a:lnTo>
                  <a:pt x="452158" y="329933"/>
                </a:lnTo>
                <a:lnTo>
                  <a:pt x="452158" y="305752"/>
                </a:lnTo>
                <a:lnTo>
                  <a:pt x="464680" y="317639"/>
                </a:lnTo>
                <a:lnTo>
                  <a:pt x="480568" y="326783"/>
                </a:lnTo>
                <a:lnTo>
                  <a:pt x="499414" y="332638"/>
                </a:lnTo>
                <a:lnTo>
                  <a:pt x="520801" y="334695"/>
                </a:lnTo>
                <a:lnTo>
                  <a:pt x="558050" y="327507"/>
                </a:lnTo>
                <a:lnTo>
                  <a:pt x="593128" y="305752"/>
                </a:lnTo>
                <a:lnTo>
                  <a:pt x="613117" y="277647"/>
                </a:lnTo>
                <a:lnTo>
                  <a:pt x="619188" y="269100"/>
                </a:lnTo>
                <a:lnTo>
                  <a:pt x="629399" y="217258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6716" y="6379118"/>
            <a:ext cx="233959" cy="2343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41144" y="300990"/>
            <a:ext cx="910971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45876" y="6279286"/>
            <a:ext cx="629920" cy="335280"/>
          </a:xfrm>
          <a:custGeom>
            <a:avLst/>
            <a:gdLst/>
            <a:ahLst/>
            <a:cxnLst/>
            <a:rect l="l" t="t" r="r" b="b"/>
            <a:pathLst>
              <a:path w="629920" h="335279">
                <a:moveTo>
                  <a:pt x="367372" y="192074"/>
                </a:moveTo>
                <a:lnTo>
                  <a:pt x="361543" y="153111"/>
                </a:lnTo>
                <a:lnTo>
                  <a:pt x="344665" y="123964"/>
                </a:lnTo>
                <a:lnTo>
                  <a:pt x="317703" y="105689"/>
                </a:lnTo>
                <a:lnTo>
                  <a:pt x="281571" y="99364"/>
                </a:lnTo>
                <a:lnTo>
                  <a:pt x="263055" y="101434"/>
                </a:lnTo>
                <a:lnTo>
                  <a:pt x="246265" y="107391"/>
                </a:lnTo>
                <a:lnTo>
                  <a:pt x="231521" y="116814"/>
                </a:lnTo>
                <a:lnTo>
                  <a:pt x="219151" y="129311"/>
                </a:lnTo>
                <a:lnTo>
                  <a:pt x="219151" y="104127"/>
                </a:lnTo>
                <a:lnTo>
                  <a:pt x="100533" y="104127"/>
                </a:lnTo>
                <a:lnTo>
                  <a:pt x="100533" y="98882"/>
                </a:lnTo>
                <a:lnTo>
                  <a:pt x="101879" y="77457"/>
                </a:lnTo>
                <a:lnTo>
                  <a:pt x="107683" y="65074"/>
                </a:lnTo>
                <a:lnTo>
                  <a:pt x="120624" y="59372"/>
                </a:lnTo>
                <a:lnTo>
                  <a:pt x="143383" y="58000"/>
                </a:lnTo>
                <a:lnTo>
                  <a:pt x="143383" y="0"/>
                </a:lnTo>
                <a:lnTo>
                  <a:pt x="138176" y="0"/>
                </a:lnTo>
                <a:lnTo>
                  <a:pt x="90652" y="5016"/>
                </a:lnTo>
                <a:lnTo>
                  <a:pt x="59969" y="21577"/>
                </a:lnTo>
                <a:lnTo>
                  <a:pt x="43497" y="51955"/>
                </a:lnTo>
                <a:lnTo>
                  <a:pt x="38595" y="98412"/>
                </a:lnTo>
                <a:lnTo>
                  <a:pt x="38595" y="104127"/>
                </a:lnTo>
                <a:lnTo>
                  <a:pt x="0" y="104127"/>
                </a:lnTo>
                <a:lnTo>
                  <a:pt x="0" y="159740"/>
                </a:lnTo>
                <a:lnTo>
                  <a:pt x="38595" y="159740"/>
                </a:lnTo>
                <a:lnTo>
                  <a:pt x="38595" y="329933"/>
                </a:lnTo>
                <a:lnTo>
                  <a:pt x="100533" y="329933"/>
                </a:lnTo>
                <a:lnTo>
                  <a:pt x="100533" y="159740"/>
                </a:lnTo>
                <a:lnTo>
                  <a:pt x="157734" y="159740"/>
                </a:lnTo>
                <a:lnTo>
                  <a:pt x="157734" y="329933"/>
                </a:lnTo>
                <a:lnTo>
                  <a:pt x="219659" y="329933"/>
                </a:lnTo>
                <a:lnTo>
                  <a:pt x="219659" y="206806"/>
                </a:lnTo>
                <a:lnTo>
                  <a:pt x="223088" y="182295"/>
                </a:lnTo>
                <a:lnTo>
                  <a:pt x="232410" y="165442"/>
                </a:lnTo>
                <a:lnTo>
                  <a:pt x="246202" y="155727"/>
                </a:lnTo>
                <a:lnTo>
                  <a:pt x="263029" y="152615"/>
                </a:lnTo>
                <a:lnTo>
                  <a:pt x="280936" y="155829"/>
                </a:lnTo>
                <a:lnTo>
                  <a:pt x="293903" y="165150"/>
                </a:lnTo>
                <a:lnTo>
                  <a:pt x="301777" y="180086"/>
                </a:lnTo>
                <a:lnTo>
                  <a:pt x="304431" y="200152"/>
                </a:lnTo>
                <a:lnTo>
                  <a:pt x="304431" y="329933"/>
                </a:lnTo>
                <a:lnTo>
                  <a:pt x="367372" y="329933"/>
                </a:lnTo>
                <a:lnTo>
                  <a:pt x="367372" y="192074"/>
                </a:lnTo>
                <a:close/>
              </a:path>
              <a:path w="629920" h="335279">
                <a:moveTo>
                  <a:pt x="629399" y="217258"/>
                </a:moveTo>
                <a:lnTo>
                  <a:pt x="619518" y="164947"/>
                </a:lnTo>
                <a:lnTo>
                  <a:pt x="613244" y="155943"/>
                </a:lnTo>
                <a:lnTo>
                  <a:pt x="594372" y="128841"/>
                </a:lnTo>
                <a:lnTo>
                  <a:pt x="593915" y="128181"/>
                </a:lnTo>
                <a:lnTo>
                  <a:pt x="568883" y="112776"/>
                </a:lnTo>
                <a:lnTo>
                  <a:pt x="568883" y="216789"/>
                </a:lnTo>
                <a:lnTo>
                  <a:pt x="564261" y="240944"/>
                </a:lnTo>
                <a:lnTo>
                  <a:pt x="551497" y="260235"/>
                </a:lnTo>
                <a:lnTo>
                  <a:pt x="532307" y="273011"/>
                </a:lnTo>
                <a:lnTo>
                  <a:pt x="508355" y="277647"/>
                </a:lnTo>
                <a:lnTo>
                  <a:pt x="482625" y="271691"/>
                </a:lnTo>
                <a:lnTo>
                  <a:pt x="463181" y="255714"/>
                </a:lnTo>
                <a:lnTo>
                  <a:pt x="452031" y="232511"/>
                </a:lnTo>
                <a:lnTo>
                  <a:pt x="451205" y="204901"/>
                </a:lnTo>
                <a:lnTo>
                  <a:pt x="458508" y="185089"/>
                </a:lnTo>
                <a:lnTo>
                  <a:pt x="472122" y="169367"/>
                </a:lnTo>
                <a:lnTo>
                  <a:pt x="490296" y="159181"/>
                </a:lnTo>
                <a:lnTo>
                  <a:pt x="511276" y="155943"/>
                </a:lnTo>
                <a:lnTo>
                  <a:pt x="534136" y="161302"/>
                </a:lnTo>
                <a:lnTo>
                  <a:pt x="552386" y="174244"/>
                </a:lnTo>
                <a:lnTo>
                  <a:pt x="564502" y="193243"/>
                </a:lnTo>
                <a:lnTo>
                  <a:pt x="568883" y="216789"/>
                </a:lnTo>
                <a:lnTo>
                  <a:pt x="568883" y="112776"/>
                </a:lnTo>
                <a:lnTo>
                  <a:pt x="558673" y="106489"/>
                </a:lnTo>
                <a:lnTo>
                  <a:pt x="519849" y="99364"/>
                </a:lnTo>
                <a:lnTo>
                  <a:pt x="498614" y="101498"/>
                </a:lnTo>
                <a:lnTo>
                  <a:pt x="480098" y="107505"/>
                </a:lnTo>
                <a:lnTo>
                  <a:pt x="464540" y="116814"/>
                </a:lnTo>
                <a:lnTo>
                  <a:pt x="452158" y="128841"/>
                </a:lnTo>
                <a:lnTo>
                  <a:pt x="452158" y="0"/>
                </a:lnTo>
                <a:lnTo>
                  <a:pt x="389724" y="0"/>
                </a:lnTo>
                <a:lnTo>
                  <a:pt x="389724" y="329933"/>
                </a:lnTo>
                <a:lnTo>
                  <a:pt x="452158" y="329933"/>
                </a:lnTo>
                <a:lnTo>
                  <a:pt x="452158" y="305752"/>
                </a:lnTo>
                <a:lnTo>
                  <a:pt x="464680" y="317639"/>
                </a:lnTo>
                <a:lnTo>
                  <a:pt x="480568" y="326783"/>
                </a:lnTo>
                <a:lnTo>
                  <a:pt x="499414" y="332638"/>
                </a:lnTo>
                <a:lnTo>
                  <a:pt x="520801" y="334695"/>
                </a:lnTo>
                <a:lnTo>
                  <a:pt x="558050" y="327507"/>
                </a:lnTo>
                <a:lnTo>
                  <a:pt x="593128" y="305752"/>
                </a:lnTo>
                <a:lnTo>
                  <a:pt x="613117" y="277647"/>
                </a:lnTo>
                <a:lnTo>
                  <a:pt x="619188" y="269100"/>
                </a:lnTo>
                <a:lnTo>
                  <a:pt x="629399" y="217258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86716" y="6379118"/>
            <a:ext cx="233959" cy="2343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" y="289305"/>
            <a:ext cx="10593705" cy="678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66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1165" y="1572323"/>
            <a:ext cx="5506720" cy="221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9110" y="6146398"/>
              <a:ext cx="1436290" cy="4550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029575" y="1713433"/>
              <a:ext cx="3353435" cy="1059180"/>
            </a:xfrm>
            <a:custGeom>
              <a:avLst/>
              <a:gdLst/>
              <a:ahLst/>
              <a:cxnLst/>
              <a:rect l="l" t="t" r="r" b="b"/>
              <a:pathLst>
                <a:path w="3353434" h="1059180">
                  <a:moveTo>
                    <a:pt x="1051737" y="527672"/>
                  </a:moveTo>
                  <a:lnTo>
                    <a:pt x="1049591" y="479552"/>
                  </a:lnTo>
                  <a:lnTo>
                    <a:pt x="1043266" y="432676"/>
                  </a:lnTo>
                  <a:lnTo>
                    <a:pt x="1032954" y="387197"/>
                  </a:lnTo>
                  <a:lnTo>
                    <a:pt x="1018844" y="343319"/>
                  </a:lnTo>
                  <a:lnTo>
                    <a:pt x="1001115" y="301218"/>
                  </a:lnTo>
                  <a:lnTo>
                    <a:pt x="979944" y="261086"/>
                  </a:lnTo>
                  <a:lnTo>
                    <a:pt x="955535" y="223113"/>
                  </a:lnTo>
                  <a:lnTo>
                    <a:pt x="928052" y="187464"/>
                  </a:lnTo>
                  <a:lnTo>
                    <a:pt x="897699" y="154330"/>
                  </a:lnTo>
                  <a:lnTo>
                    <a:pt x="864641" y="123913"/>
                  </a:lnTo>
                  <a:lnTo>
                    <a:pt x="829068" y="96380"/>
                  </a:lnTo>
                  <a:lnTo>
                    <a:pt x="791171" y="71907"/>
                  </a:lnTo>
                  <a:lnTo>
                    <a:pt x="751141" y="50711"/>
                  </a:lnTo>
                  <a:lnTo>
                    <a:pt x="709142" y="32943"/>
                  </a:lnTo>
                  <a:lnTo>
                    <a:pt x="665378" y="18808"/>
                  </a:lnTo>
                  <a:lnTo>
                    <a:pt x="620026" y="8483"/>
                  </a:lnTo>
                  <a:lnTo>
                    <a:pt x="573265" y="2146"/>
                  </a:lnTo>
                  <a:lnTo>
                    <a:pt x="525284" y="0"/>
                  </a:lnTo>
                  <a:lnTo>
                    <a:pt x="477481" y="2146"/>
                  </a:lnTo>
                  <a:lnTo>
                    <a:pt x="430885" y="8483"/>
                  </a:lnTo>
                  <a:lnTo>
                    <a:pt x="385673" y="18808"/>
                  </a:lnTo>
                  <a:lnTo>
                    <a:pt x="342023" y="32943"/>
                  </a:lnTo>
                  <a:lnTo>
                    <a:pt x="300139" y="50711"/>
                  </a:lnTo>
                  <a:lnTo>
                    <a:pt x="260197" y="71907"/>
                  </a:lnTo>
                  <a:lnTo>
                    <a:pt x="222377" y="96380"/>
                  </a:lnTo>
                  <a:lnTo>
                    <a:pt x="186880" y="123913"/>
                  </a:lnTo>
                  <a:lnTo>
                    <a:pt x="153885" y="154330"/>
                  </a:lnTo>
                  <a:lnTo>
                    <a:pt x="123558" y="187464"/>
                  </a:lnTo>
                  <a:lnTo>
                    <a:pt x="96113" y="223113"/>
                  </a:lnTo>
                  <a:lnTo>
                    <a:pt x="71729" y="261086"/>
                  </a:lnTo>
                  <a:lnTo>
                    <a:pt x="50584" y="301218"/>
                  </a:lnTo>
                  <a:lnTo>
                    <a:pt x="32867" y="343319"/>
                  </a:lnTo>
                  <a:lnTo>
                    <a:pt x="18757" y="387197"/>
                  </a:lnTo>
                  <a:lnTo>
                    <a:pt x="8458" y="432676"/>
                  </a:lnTo>
                  <a:lnTo>
                    <a:pt x="2146" y="479552"/>
                  </a:lnTo>
                  <a:lnTo>
                    <a:pt x="0" y="527672"/>
                  </a:lnTo>
                  <a:lnTo>
                    <a:pt x="2146" y="575983"/>
                  </a:lnTo>
                  <a:lnTo>
                    <a:pt x="8458" y="623100"/>
                  </a:lnTo>
                  <a:lnTo>
                    <a:pt x="18757" y="668807"/>
                  </a:lnTo>
                  <a:lnTo>
                    <a:pt x="32867" y="712927"/>
                  </a:lnTo>
                  <a:lnTo>
                    <a:pt x="50584" y="755281"/>
                  </a:lnTo>
                  <a:lnTo>
                    <a:pt x="71729" y="795680"/>
                  </a:lnTo>
                  <a:lnTo>
                    <a:pt x="96113" y="833920"/>
                  </a:lnTo>
                  <a:lnTo>
                    <a:pt x="123558" y="869823"/>
                  </a:lnTo>
                  <a:lnTo>
                    <a:pt x="153885" y="903198"/>
                  </a:lnTo>
                  <a:lnTo>
                    <a:pt x="186880" y="933856"/>
                  </a:lnTo>
                  <a:lnTo>
                    <a:pt x="222377" y="961618"/>
                  </a:lnTo>
                  <a:lnTo>
                    <a:pt x="260197" y="986294"/>
                  </a:lnTo>
                  <a:lnTo>
                    <a:pt x="300139" y="1007681"/>
                  </a:lnTo>
                  <a:lnTo>
                    <a:pt x="342023" y="1025601"/>
                  </a:lnTo>
                  <a:lnTo>
                    <a:pt x="385673" y="1039876"/>
                  </a:lnTo>
                  <a:lnTo>
                    <a:pt x="430885" y="1050290"/>
                  </a:lnTo>
                  <a:lnTo>
                    <a:pt x="477481" y="1056690"/>
                  </a:lnTo>
                  <a:lnTo>
                    <a:pt x="525284" y="1058862"/>
                  </a:lnTo>
                  <a:lnTo>
                    <a:pt x="547954" y="1058240"/>
                  </a:lnTo>
                  <a:lnTo>
                    <a:pt x="592429" y="1053909"/>
                  </a:lnTo>
                  <a:lnTo>
                    <a:pt x="613803" y="242722"/>
                  </a:lnTo>
                  <a:lnTo>
                    <a:pt x="493826" y="242722"/>
                  </a:lnTo>
                  <a:lnTo>
                    <a:pt x="453885" y="305587"/>
                  </a:lnTo>
                  <a:lnTo>
                    <a:pt x="405752" y="337566"/>
                  </a:lnTo>
                  <a:lnTo>
                    <a:pt x="365264" y="349084"/>
                  </a:lnTo>
                  <a:lnTo>
                    <a:pt x="348246" y="350608"/>
                  </a:lnTo>
                  <a:lnTo>
                    <a:pt x="348246" y="462000"/>
                  </a:lnTo>
                  <a:lnTo>
                    <a:pt x="442582" y="462000"/>
                  </a:lnTo>
                  <a:lnTo>
                    <a:pt x="442582" y="890003"/>
                  </a:lnTo>
                  <a:lnTo>
                    <a:pt x="399186" y="876833"/>
                  </a:lnTo>
                  <a:lnTo>
                    <a:pt x="358178" y="858659"/>
                  </a:lnTo>
                  <a:lnTo>
                    <a:pt x="319925" y="835837"/>
                  </a:lnTo>
                  <a:lnTo>
                    <a:pt x="284797" y="808723"/>
                  </a:lnTo>
                  <a:lnTo>
                    <a:pt x="253161" y="777633"/>
                  </a:lnTo>
                  <a:lnTo>
                    <a:pt x="225374" y="742950"/>
                  </a:lnTo>
                  <a:lnTo>
                    <a:pt x="201828" y="705015"/>
                  </a:lnTo>
                  <a:lnTo>
                    <a:pt x="182867" y="664171"/>
                  </a:lnTo>
                  <a:lnTo>
                    <a:pt x="168871" y="620763"/>
                  </a:lnTo>
                  <a:lnTo>
                    <a:pt x="160210" y="575144"/>
                  </a:lnTo>
                  <a:lnTo>
                    <a:pt x="157238" y="527672"/>
                  </a:lnTo>
                  <a:lnTo>
                    <a:pt x="160108" y="481304"/>
                  </a:lnTo>
                  <a:lnTo>
                    <a:pt x="168516" y="436638"/>
                  </a:lnTo>
                  <a:lnTo>
                    <a:pt x="182079" y="393992"/>
                  </a:lnTo>
                  <a:lnTo>
                    <a:pt x="200482" y="353745"/>
                  </a:lnTo>
                  <a:lnTo>
                    <a:pt x="223342" y="316230"/>
                  </a:lnTo>
                  <a:lnTo>
                    <a:pt x="250329" y="281813"/>
                  </a:lnTo>
                  <a:lnTo>
                    <a:pt x="281089" y="250850"/>
                  </a:lnTo>
                  <a:lnTo>
                    <a:pt x="315277" y="223672"/>
                  </a:lnTo>
                  <a:lnTo>
                    <a:pt x="352526" y="200660"/>
                  </a:lnTo>
                  <a:lnTo>
                    <a:pt x="392506" y="182130"/>
                  </a:lnTo>
                  <a:lnTo>
                    <a:pt x="434860" y="168478"/>
                  </a:lnTo>
                  <a:lnTo>
                    <a:pt x="479234" y="160020"/>
                  </a:lnTo>
                  <a:lnTo>
                    <a:pt x="525284" y="157124"/>
                  </a:lnTo>
                  <a:lnTo>
                    <a:pt x="571576" y="160020"/>
                  </a:lnTo>
                  <a:lnTo>
                    <a:pt x="616165" y="168478"/>
                  </a:lnTo>
                  <a:lnTo>
                    <a:pt x="658685" y="182130"/>
                  </a:lnTo>
                  <a:lnTo>
                    <a:pt x="698804" y="200660"/>
                  </a:lnTo>
                  <a:lnTo>
                    <a:pt x="736180" y="223672"/>
                  </a:lnTo>
                  <a:lnTo>
                    <a:pt x="770445" y="250850"/>
                  </a:lnTo>
                  <a:lnTo>
                    <a:pt x="801281" y="281813"/>
                  </a:lnTo>
                  <a:lnTo>
                    <a:pt x="828319" y="316230"/>
                  </a:lnTo>
                  <a:lnTo>
                    <a:pt x="851217" y="353745"/>
                  </a:lnTo>
                  <a:lnTo>
                    <a:pt x="869632" y="393992"/>
                  </a:lnTo>
                  <a:lnTo>
                    <a:pt x="883208" y="436638"/>
                  </a:lnTo>
                  <a:lnTo>
                    <a:pt x="891616" y="481304"/>
                  </a:lnTo>
                  <a:lnTo>
                    <a:pt x="894486" y="527672"/>
                  </a:lnTo>
                  <a:lnTo>
                    <a:pt x="891108" y="578370"/>
                  </a:lnTo>
                  <a:lnTo>
                    <a:pt x="881265" y="626960"/>
                  </a:lnTo>
                  <a:lnTo>
                    <a:pt x="865378" y="673023"/>
                  </a:lnTo>
                  <a:lnTo>
                    <a:pt x="843876" y="716114"/>
                  </a:lnTo>
                  <a:lnTo>
                    <a:pt x="817206" y="755764"/>
                  </a:lnTo>
                  <a:lnTo>
                    <a:pt x="785787" y="791552"/>
                  </a:lnTo>
                  <a:lnTo>
                    <a:pt x="750049" y="823010"/>
                  </a:lnTo>
                  <a:lnTo>
                    <a:pt x="710438" y="849731"/>
                  </a:lnTo>
                  <a:lnTo>
                    <a:pt x="667372" y="871232"/>
                  </a:lnTo>
                  <a:lnTo>
                    <a:pt x="667372" y="1038923"/>
                  </a:lnTo>
                  <a:lnTo>
                    <a:pt x="714082" y="1023454"/>
                  </a:lnTo>
                  <a:lnTo>
                    <a:pt x="758710" y="1003833"/>
                  </a:lnTo>
                  <a:lnTo>
                    <a:pt x="801039" y="980287"/>
                  </a:lnTo>
                  <a:lnTo>
                    <a:pt x="840854" y="953058"/>
                  </a:lnTo>
                  <a:lnTo>
                    <a:pt x="877938" y="922350"/>
                  </a:lnTo>
                  <a:lnTo>
                    <a:pt x="912050" y="888415"/>
                  </a:lnTo>
                  <a:lnTo>
                    <a:pt x="942975" y="851458"/>
                  </a:lnTo>
                  <a:lnTo>
                    <a:pt x="970495" y="811720"/>
                  </a:lnTo>
                  <a:lnTo>
                    <a:pt x="994397" y="769429"/>
                  </a:lnTo>
                  <a:lnTo>
                    <a:pt x="1014450" y="724814"/>
                  </a:lnTo>
                  <a:lnTo>
                    <a:pt x="1030427" y="678103"/>
                  </a:lnTo>
                  <a:lnTo>
                    <a:pt x="1042111" y="629526"/>
                  </a:lnTo>
                  <a:lnTo>
                    <a:pt x="1049286" y="579310"/>
                  </a:lnTo>
                  <a:lnTo>
                    <a:pt x="1051737" y="527672"/>
                  </a:lnTo>
                  <a:close/>
                </a:path>
                <a:path w="3353434" h="1059180">
                  <a:moveTo>
                    <a:pt x="2112822" y="598030"/>
                  </a:moveTo>
                  <a:lnTo>
                    <a:pt x="2109203" y="547128"/>
                  </a:lnTo>
                  <a:lnTo>
                    <a:pt x="2098560" y="501942"/>
                  </a:lnTo>
                  <a:lnTo>
                    <a:pt x="2081174" y="462813"/>
                  </a:lnTo>
                  <a:lnTo>
                    <a:pt x="2057323" y="430047"/>
                  </a:lnTo>
                  <a:lnTo>
                    <a:pt x="2027301" y="403987"/>
                  </a:lnTo>
                  <a:lnTo>
                    <a:pt x="1991398" y="384975"/>
                  </a:lnTo>
                  <a:lnTo>
                    <a:pt x="1949894" y="373316"/>
                  </a:lnTo>
                  <a:lnTo>
                    <a:pt x="1903095" y="369366"/>
                  </a:lnTo>
                  <a:lnTo>
                    <a:pt x="1857806" y="374472"/>
                  </a:lnTo>
                  <a:lnTo>
                    <a:pt x="1816773" y="389153"/>
                  </a:lnTo>
                  <a:lnTo>
                    <a:pt x="1780755" y="412394"/>
                  </a:lnTo>
                  <a:lnTo>
                    <a:pt x="1750491" y="443230"/>
                  </a:lnTo>
                  <a:lnTo>
                    <a:pt x="1750491" y="381101"/>
                  </a:lnTo>
                  <a:lnTo>
                    <a:pt x="1460550" y="381101"/>
                  </a:lnTo>
                  <a:lnTo>
                    <a:pt x="1460550" y="368185"/>
                  </a:lnTo>
                  <a:lnTo>
                    <a:pt x="1463814" y="315328"/>
                  </a:lnTo>
                  <a:lnTo>
                    <a:pt x="1478000" y="284784"/>
                  </a:lnTo>
                  <a:lnTo>
                    <a:pt x="1509649" y="270738"/>
                  </a:lnTo>
                  <a:lnTo>
                    <a:pt x="1565287" y="267347"/>
                  </a:lnTo>
                  <a:lnTo>
                    <a:pt x="1565287" y="124282"/>
                  </a:lnTo>
                  <a:lnTo>
                    <a:pt x="1552562" y="124282"/>
                  </a:lnTo>
                  <a:lnTo>
                    <a:pt x="1495437" y="126619"/>
                  </a:lnTo>
                  <a:lnTo>
                    <a:pt x="1447152" y="133972"/>
                  </a:lnTo>
                  <a:lnTo>
                    <a:pt x="1407134" y="146824"/>
                  </a:lnTo>
                  <a:lnTo>
                    <a:pt x="1349667" y="190995"/>
                  </a:lnTo>
                  <a:lnTo>
                    <a:pt x="1318501" y="263080"/>
                  </a:lnTo>
                  <a:lnTo>
                    <a:pt x="1311376" y="310819"/>
                  </a:lnTo>
                  <a:lnTo>
                    <a:pt x="1309128" y="367017"/>
                  </a:lnTo>
                  <a:lnTo>
                    <a:pt x="1309128" y="381101"/>
                  </a:lnTo>
                  <a:lnTo>
                    <a:pt x="1214780" y="381101"/>
                  </a:lnTo>
                  <a:lnTo>
                    <a:pt x="1214780" y="518274"/>
                  </a:lnTo>
                  <a:lnTo>
                    <a:pt x="1309128" y="518274"/>
                  </a:lnTo>
                  <a:lnTo>
                    <a:pt x="1309128" y="938085"/>
                  </a:lnTo>
                  <a:lnTo>
                    <a:pt x="1460550" y="938085"/>
                  </a:lnTo>
                  <a:lnTo>
                    <a:pt x="1460550" y="518274"/>
                  </a:lnTo>
                  <a:lnTo>
                    <a:pt x="1600365" y="518274"/>
                  </a:lnTo>
                  <a:lnTo>
                    <a:pt x="1600365" y="938085"/>
                  </a:lnTo>
                  <a:lnTo>
                    <a:pt x="1751723" y="938085"/>
                  </a:lnTo>
                  <a:lnTo>
                    <a:pt x="1751723" y="634377"/>
                  </a:lnTo>
                  <a:lnTo>
                    <a:pt x="1760105" y="573913"/>
                  </a:lnTo>
                  <a:lnTo>
                    <a:pt x="1782914" y="532358"/>
                  </a:lnTo>
                  <a:lnTo>
                    <a:pt x="1816633" y="508393"/>
                  </a:lnTo>
                  <a:lnTo>
                    <a:pt x="1857756" y="500697"/>
                  </a:lnTo>
                  <a:lnTo>
                    <a:pt x="1901545" y="508635"/>
                  </a:lnTo>
                  <a:lnTo>
                    <a:pt x="1933219" y="531622"/>
                  </a:lnTo>
                  <a:lnTo>
                    <a:pt x="1952485" y="568464"/>
                  </a:lnTo>
                  <a:lnTo>
                    <a:pt x="1958975" y="617956"/>
                  </a:lnTo>
                  <a:lnTo>
                    <a:pt x="1958975" y="938085"/>
                  </a:lnTo>
                  <a:lnTo>
                    <a:pt x="2112822" y="938085"/>
                  </a:lnTo>
                  <a:lnTo>
                    <a:pt x="2112822" y="598030"/>
                  </a:lnTo>
                  <a:close/>
                </a:path>
                <a:path w="3353434" h="1059180">
                  <a:moveTo>
                    <a:pt x="2753347" y="660158"/>
                  </a:moveTo>
                  <a:lnTo>
                    <a:pt x="2749245" y="603872"/>
                  </a:lnTo>
                  <a:lnTo>
                    <a:pt x="2737561" y="553821"/>
                  </a:lnTo>
                  <a:lnTo>
                    <a:pt x="2719260" y="509955"/>
                  </a:lnTo>
                  <a:lnTo>
                    <a:pt x="2718587" y="508901"/>
                  </a:lnTo>
                  <a:lnTo>
                    <a:pt x="2695295" y="472198"/>
                  </a:lnTo>
                  <a:lnTo>
                    <a:pt x="2668054" y="442061"/>
                  </a:lnTo>
                  <a:lnTo>
                    <a:pt x="2666606" y="440448"/>
                  </a:lnTo>
                  <a:lnTo>
                    <a:pt x="2634132" y="414655"/>
                  </a:lnTo>
                  <a:lnTo>
                    <a:pt x="2605392" y="398424"/>
                  </a:lnTo>
                  <a:lnTo>
                    <a:pt x="2605392" y="658990"/>
                  </a:lnTo>
                  <a:lnTo>
                    <a:pt x="2598077" y="707478"/>
                  </a:lnTo>
                  <a:lnTo>
                    <a:pt x="2577515" y="748817"/>
                  </a:lnTo>
                  <a:lnTo>
                    <a:pt x="2545816" y="780923"/>
                  </a:lnTo>
                  <a:lnTo>
                    <a:pt x="2505087" y="801700"/>
                  </a:lnTo>
                  <a:lnTo>
                    <a:pt x="2457450" y="809104"/>
                  </a:lnTo>
                  <a:lnTo>
                    <a:pt x="2414066" y="802398"/>
                  </a:lnTo>
                  <a:lnTo>
                    <a:pt x="2376767" y="783691"/>
                  </a:lnTo>
                  <a:lnTo>
                    <a:pt x="2347023" y="755002"/>
                  </a:lnTo>
                  <a:lnTo>
                    <a:pt x="2326297" y="718413"/>
                  </a:lnTo>
                  <a:lnTo>
                    <a:pt x="2316048" y="675957"/>
                  </a:lnTo>
                  <a:lnTo>
                    <a:pt x="2317737" y="629691"/>
                  </a:lnTo>
                  <a:lnTo>
                    <a:pt x="2335593" y="580809"/>
                  </a:lnTo>
                  <a:lnTo>
                    <a:pt x="2368867" y="542036"/>
                  </a:lnTo>
                  <a:lnTo>
                    <a:pt x="2413292" y="516890"/>
                  </a:lnTo>
                  <a:lnTo>
                    <a:pt x="2464600" y="508901"/>
                  </a:lnTo>
                  <a:lnTo>
                    <a:pt x="2510053" y="517867"/>
                  </a:lnTo>
                  <a:lnTo>
                    <a:pt x="2548826" y="539280"/>
                  </a:lnTo>
                  <a:lnTo>
                    <a:pt x="2578951" y="571207"/>
                  </a:lnTo>
                  <a:lnTo>
                    <a:pt x="2598458" y="611759"/>
                  </a:lnTo>
                  <a:lnTo>
                    <a:pt x="2605392" y="658990"/>
                  </a:lnTo>
                  <a:lnTo>
                    <a:pt x="2605392" y="398424"/>
                  </a:lnTo>
                  <a:lnTo>
                    <a:pt x="2598851" y="394716"/>
                  </a:lnTo>
                  <a:lnTo>
                    <a:pt x="2561691" y="380580"/>
                  </a:lnTo>
                  <a:lnTo>
                    <a:pt x="2523604" y="372148"/>
                  </a:lnTo>
                  <a:lnTo>
                    <a:pt x="2485555" y="369366"/>
                  </a:lnTo>
                  <a:lnTo>
                    <a:pt x="2433624" y="374624"/>
                  </a:lnTo>
                  <a:lnTo>
                    <a:pt x="2388374" y="389445"/>
                  </a:lnTo>
                  <a:lnTo>
                    <a:pt x="2350338" y="412394"/>
                  </a:lnTo>
                  <a:lnTo>
                    <a:pt x="2320061" y="442061"/>
                  </a:lnTo>
                  <a:lnTo>
                    <a:pt x="2320061" y="124282"/>
                  </a:lnTo>
                  <a:lnTo>
                    <a:pt x="2167458" y="124282"/>
                  </a:lnTo>
                  <a:lnTo>
                    <a:pt x="2167458" y="938085"/>
                  </a:lnTo>
                  <a:lnTo>
                    <a:pt x="2320061" y="938085"/>
                  </a:lnTo>
                  <a:lnTo>
                    <a:pt x="2320061" y="878281"/>
                  </a:lnTo>
                  <a:lnTo>
                    <a:pt x="2350693" y="907757"/>
                  </a:lnTo>
                  <a:lnTo>
                    <a:pt x="2389530" y="930313"/>
                  </a:lnTo>
                  <a:lnTo>
                    <a:pt x="2435593" y="944727"/>
                  </a:lnTo>
                  <a:lnTo>
                    <a:pt x="2487879" y="949807"/>
                  </a:lnTo>
                  <a:lnTo>
                    <a:pt x="2523871" y="946988"/>
                  </a:lnTo>
                  <a:lnTo>
                    <a:pt x="2597048" y="924255"/>
                  </a:lnTo>
                  <a:lnTo>
                    <a:pt x="2632087" y="904252"/>
                  </a:lnTo>
                  <a:lnTo>
                    <a:pt x="2664676" y="878420"/>
                  </a:lnTo>
                  <a:lnTo>
                    <a:pt x="2693746" y="846721"/>
                  </a:lnTo>
                  <a:lnTo>
                    <a:pt x="2718206" y="809104"/>
                  </a:lnTo>
                  <a:lnTo>
                    <a:pt x="2737015" y="765492"/>
                  </a:lnTo>
                  <a:lnTo>
                    <a:pt x="2749080" y="715860"/>
                  </a:lnTo>
                  <a:lnTo>
                    <a:pt x="2753347" y="660158"/>
                  </a:lnTo>
                  <a:close/>
                </a:path>
                <a:path w="3353434" h="1059180">
                  <a:moveTo>
                    <a:pt x="3353193" y="643750"/>
                  </a:moveTo>
                  <a:lnTo>
                    <a:pt x="3346881" y="596557"/>
                  </a:lnTo>
                  <a:lnTo>
                    <a:pt x="3346754" y="595630"/>
                  </a:lnTo>
                  <a:lnTo>
                    <a:pt x="3332607" y="550227"/>
                  </a:lnTo>
                  <a:lnTo>
                    <a:pt x="3314712" y="514769"/>
                  </a:lnTo>
                  <a:lnTo>
                    <a:pt x="3311448" y="508292"/>
                  </a:lnTo>
                  <a:lnTo>
                    <a:pt x="3284016" y="470560"/>
                  </a:lnTo>
                  <a:lnTo>
                    <a:pt x="3251047" y="437756"/>
                  </a:lnTo>
                  <a:lnTo>
                    <a:pt x="3213252" y="410616"/>
                  </a:lnTo>
                  <a:lnTo>
                    <a:pt x="3206496" y="407276"/>
                  </a:lnTo>
                  <a:lnTo>
                    <a:pt x="3206496" y="660158"/>
                  </a:lnTo>
                  <a:lnTo>
                    <a:pt x="3199434" y="705345"/>
                  </a:lnTo>
                  <a:lnTo>
                    <a:pt x="3179749" y="744880"/>
                  </a:lnTo>
                  <a:lnTo>
                    <a:pt x="3149587" y="776262"/>
                  </a:lnTo>
                  <a:lnTo>
                    <a:pt x="3111144" y="796950"/>
                  </a:lnTo>
                  <a:lnTo>
                    <a:pt x="3066618" y="804405"/>
                  </a:lnTo>
                  <a:lnTo>
                    <a:pt x="3020479" y="796175"/>
                  </a:lnTo>
                  <a:lnTo>
                    <a:pt x="2981401" y="773417"/>
                  </a:lnTo>
                  <a:lnTo>
                    <a:pt x="2951632" y="739051"/>
                  </a:lnTo>
                  <a:lnTo>
                    <a:pt x="2933484" y="696036"/>
                  </a:lnTo>
                  <a:lnTo>
                    <a:pt x="2929229" y="647268"/>
                  </a:lnTo>
                  <a:lnTo>
                    <a:pt x="2942869" y="596557"/>
                  </a:lnTo>
                  <a:lnTo>
                    <a:pt x="2972524" y="554634"/>
                  </a:lnTo>
                  <a:lnTo>
                    <a:pt x="3014611" y="525907"/>
                  </a:lnTo>
                  <a:lnTo>
                    <a:pt x="3065526" y="514769"/>
                  </a:lnTo>
                  <a:lnTo>
                    <a:pt x="3110179" y="521779"/>
                  </a:lnTo>
                  <a:lnTo>
                    <a:pt x="3148888" y="542480"/>
                  </a:lnTo>
                  <a:lnTo>
                    <a:pt x="3179356" y="574205"/>
                  </a:lnTo>
                  <a:lnTo>
                    <a:pt x="3199333" y="614311"/>
                  </a:lnTo>
                  <a:lnTo>
                    <a:pt x="3206496" y="660158"/>
                  </a:lnTo>
                  <a:lnTo>
                    <a:pt x="3206496" y="407276"/>
                  </a:lnTo>
                  <a:lnTo>
                    <a:pt x="3171380" y="389877"/>
                  </a:lnTo>
                  <a:lnTo>
                    <a:pt x="3126143" y="376275"/>
                  </a:lnTo>
                  <a:lnTo>
                    <a:pt x="3078264" y="370535"/>
                  </a:lnTo>
                  <a:lnTo>
                    <a:pt x="3032823" y="372186"/>
                  </a:lnTo>
                  <a:lnTo>
                    <a:pt x="2989554" y="380644"/>
                  </a:lnTo>
                  <a:lnTo>
                    <a:pt x="2948965" y="395363"/>
                  </a:lnTo>
                  <a:lnTo>
                    <a:pt x="2911564" y="415836"/>
                  </a:lnTo>
                  <a:lnTo>
                    <a:pt x="2877845" y="441515"/>
                  </a:lnTo>
                  <a:lnTo>
                    <a:pt x="2848330" y="471868"/>
                  </a:lnTo>
                  <a:lnTo>
                    <a:pt x="2823502" y="506387"/>
                  </a:lnTo>
                  <a:lnTo>
                    <a:pt x="2803893" y="544525"/>
                  </a:lnTo>
                  <a:lnTo>
                    <a:pt x="2789974" y="585762"/>
                  </a:lnTo>
                  <a:lnTo>
                    <a:pt x="2782278" y="629564"/>
                  </a:lnTo>
                  <a:lnTo>
                    <a:pt x="2781287" y="675411"/>
                  </a:lnTo>
                  <a:lnTo>
                    <a:pt x="2787726" y="723544"/>
                  </a:lnTo>
                  <a:lnTo>
                    <a:pt x="2801899" y="768946"/>
                  </a:lnTo>
                  <a:lnTo>
                    <a:pt x="2823070" y="810869"/>
                  </a:lnTo>
                  <a:lnTo>
                    <a:pt x="2850515" y="848614"/>
                  </a:lnTo>
                  <a:lnTo>
                    <a:pt x="2883497" y="881405"/>
                  </a:lnTo>
                  <a:lnTo>
                    <a:pt x="2921292" y="908545"/>
                  </a:lnTo>
                  <a:lnTo>
                    <a:pt x="2963164" y="929284"/>
                  </a:lnTo>
                  <a:lnTo>
                    <a:pt x="3008376" y="942898"/>
                  </a:lnTo>
                  <a:lnTo>
                    <a:pt x="3056217" y="948639"/>
                  </a:lnTo>
                  <a:lnTo>
                    <a:pt x="3101657" y="946975"/>
                  </a:lnTo>
                  <a:lnTo>
                    <a:pt x="3144926" y="938530"/>
                  </a:lnTo>
                  <a:lnTo>
                    <a:pt x="3185515" y="923798"/>
                  </a:lnTo>
                  <a:lnTo>
                    <a:pt x="3222917" y="903338"/>
                  </a:lnTo>
                  <a:lnTo>
                    <a:pt x="3256623" y="877658"/>
                  </a:lnTo>
                  <a:lnTo>
                    <a:pt x="3286150" y="847305"/>
                  </a:lnTo>
                  <a:lnTo>
                    <a:pt x="3310966" y="812787"/>
                  </a:lnTo>
                  <a:lnTo>
                    <a:pt x="3330587" y="774649"/>
                  </a:lnTo>
                  <a:lnTo>
                    <a:pt x="3344507" y="733412"/>
                  </a:lnTo>
                  <a:lnTo>
                    <a:pt x="3352203" y="689597"/>
                  </a:lnTo>
                  <a:lnTo>
                    <a:pt x="3353117" y="647268"/>
                  </a:lnTo>
                  <a:lnTo>
                    <a:pt x="3353193" y="643750"/>
                  </a:lnTo>
                  <a:close/>
                </a:path>
              </a:pathLst>
            </a:custGeom>
            <a:solidFill>
              <a:srgbClr val="0E5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7052" y="3006407"/>
            <a:ext cx="471551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>
                <a:solidFill>
                  <a:srgbClr val="FFFFFF"/>
                </a:solidFill>
                <a:latin typeface="Arial"/>
                <a:cs typeface="Arial"/>
              </a:rPr>
              <a:t>Datathon</a:t>
            </a:r>
            <a:r>
              <a:rPr sz="5400" b="1" spc="-20">
                <a:solidFill>
                  <a:srgbClr val="FFFFFF"/>
                </a:solidFill>
                <a:latin typeface="Arial"/>
                <a:cs typeface="Arial"/>
              </a:rPr>
              <a:t> 2025</a:t>
            </a:r>
            <a:endParaRPr sz="5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051" y="4026927"/>
            <a:ext cx="3613562" cy="63158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000" b="1" spc="-10" err="1">
                <a:solidFill>
                  <a:srgbClr val="01644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First</a:t>
            </a:r>
            <a:r>
              <a:rPr lang="en-US" sz="4000" b="1" spc="-10" err="1">
                <a:solidFill>
                  <a:srgbClr val="1C191A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Mav</a:t>
            </a:r>
            <a:endParaRPr lang="en-US" sz="4000" b="1">
              <a:solidFill>
                <a:srgbClr val="1C191A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945879" y="6279283"/>
            <a:ext cx="875030" cy="335280"/>
            <a:chOff x="10945879" y="6279283"/>
            <a:chExt cx="875030" cy="335280"/>
          </a:xfrm>
        </p:grpSpPr>
        <p:sp>
          <p:nvSpPr>
            <p:cNvPr id="5" name="object 5"/>
            <p:cNvSpPr/>
            <p:nvPr/>
          </p:nvSpPr>
          <p:spPr>
            <a:xfrm>
              <a:off x="10945876" y="6279286"/>
              <a:ext cx="629920" cy="335280"/>
            </a:xfrm>
            <a:custGeom>
              <a:avLst/>
              <a:gdLst/>
              <a:ahLst/>
              <a:cxnLst/>
              <a:rect l="l" t="t" r="r" b="b"/>
              <a:pathLst>
                <a:path w="629920" h="335279">
                  <a:moveTo>
                    <a:pt x="367372" y="192074"/>
                  </a:moveTo>
                  <a:lnTo>
                    <a:pt x="361543" y="153111"/>
                  </a:lnTo>
                  <a:lnTo>
                    <a:pt x="344665" y="123964"/>
                  </a:lnTo>
                  <a:lnTo>
                    <a:pt x="317703" y="105689"/>
                  </a:lnTo>
                  <a:lnTo>
                    <a:pt x="281571" y="99364"/>
                  </a:lnTo>
                  <a:lnTo>
                    <a:pt x="263055" y="101434"/>
                  </a:lnTo>
                  <a:lnTo>
                    <a:pt x="246265" y="107391"/>
                  </a:lnTo>
                  <a:lnTo>
                    <a:pt x="231521" y="116814"/>
                  </a:lnTo>
                  <a:lnTo>
                    <a:pt x="219151" y="129311"/>
                  </a:lnTo>
                  <a:lnTo>
                    <a:pt x="219151" y="104127"/>
                  </a:lnTo>
                  <a:lnTo>
                    <a:pt x="100533" y="104127"/>
                  </a:lnTo>
                  <a:lnTo>
                    <a:pt x="100533" y="98882"/>
                  </a:lnTo>
                  <a:lnTo>
                    <a:pt x="101879" y="77457"/>
                  </a:lnTo>
                  <a:lnTo>
                    <a:pt x="107683" y="65074"/>
                  </a:lnTo>
                  <a:lnTo>
                    <a:pt x="120624" y="59372"/>
                  </a:lnTo>
                  <a:lnTo>
                    <a:pt x="143383" y="58000"/>
                  </a:lnTo>
                  <a:lnTo>
                    <a:pt x="143383" y="0"/>
                  </a:lnTo>
                  <a:lnTo>
                    <a:pt x="138176" y="0"/>
                  </a:lnTo>
                  <a:lnTo>
                    <a:pt x="90652" y="5016"/>
                  </a:lnTo>
                  <a:lnTo>
                    <a:pt x="59969" y="21577"/>
                  </a:lnTo>
                  <a:lnTo>
                    <a:pt x="43497" y="51955"/>
                  </a:lnTo>
                  <a:lnTo>
                    <a:pt x="38595" y="98412"/>
                  </a:lnTo>
                  <a:lnTo>
                    <a:pt x="38595" y="104127"/>
                  </a:lnTo>
                  <a:lnTo>
                    <a:pt x="0" y="104127"/>
                  </a:lnTo>
                  <a:lnTo>
                    <a:pt x="0" y="159740"/>
                  </a:lnTo>
                  <a:lnTo>
                    <a:pt x="38595" y="159740"/>
                  </a:lnTo>
                  <a:lnTo>
                    <a:pt x="38595" y="329933"/>
                  </a:lnTo>
                  <a:lnTo>
                    <a:pt x="100533" y="329933"/>
                  </a:lnTo>
                  <a:lnTo>
                    <a:pt x="100533" y="159740"/>
                  </a:lnTo>
                  <a:lnTo>
                    <a:pt x="157734" y="159740"/>
                  </a:lnTo>
                  <a:lnTo>
                    <a:pt x="157734" y="329933"/>
                  </a:lnTo>
                  <a:lnTo>
                    <a:pt x="219659" y="329933"/>
                  </a:lnTo>
                  <a:lnTo>
                    <a:pt x="219659" y="206806"/>
                  </a:lnTo>
                  <a:lnTo>
                    <a:pt x="223088" y="182295"/>
                  </a:lnTo>
                  <a:lnTo>
                    <a:pt x="232410" y="165442"/>
                  </a:lnTo>
                  <a:lnTo>
                    <a:pt x="246202" y="155727"/>
                  </a:lnTo>
                  <a:lnTo>
                    <a:pt x="263029" y="152615"/>
                  </a:lnTo>
                  <a:lnTo>
                    <a:pt x="280936" y="155829"/>
                  </a:lnTo>
                  <a:lnTo>
                    <a:pt x="293903" y="165150"/>
                  </a:lnTo>
                  <a:lnTo>
                    <a:pt x="301777" y="180086"/>
                  </a:lnTo>
                  <a:lnTo>
                    <a:pt x="304431" y="200152"/>
                  </a:lnTo>
                  <a:lnTo>
                    <a:pt x="304431" y="329933"/>
                  </a:lnTo>
                  <a:lnTo>
                    <a:pt x="367372" y="329933"/>
                  </a:lnTo>
                  <a:lnTo>
                    <a:pt x="367372" y="192074"/>
                  </a:lnTo>
                  <a:close/>
                </a:path>
                <a:path w="629920" h="335279">
                  <a:moveTo>
                    <a:pt x="629399" y="217258"/>
                  </a:moveTo>
                  <a:lnTo>
                    <a:pt x="619518" y="164947"/>
                  </a:lnTo>
                  <a:lnTo>
                    <a:pt x="613244" y="155943"/>
                  </a:lnTo>
                  <a:lnTo>
                    <a:pt x="594372" y="128841"/>
                  </a:lnTo>
                  <a:lnTo>
                    <a:pt x="593915" y="128181"/>
                  </a:lnTo>
                  <a:lnTo>
                    <a:pt x="568883" y="112776"/>
                  </a:lnTo>
                  <a:lnTo>
                    <a:pt x="568883" y="216789"/>
                  </a:lnTo>
                  <a:lnTo>
                    <a:pt x="564261" y="240944"/>
                  </a:lnTo>
                  <a:lnTo>
                    <a:pt x="551497" y="260235"/>
                  </a:lnTo>
                  <a:lnTo>
                    <a:pt x="532307" y="273011"/>
                  </a:lnTo>
                  <a:lnTo>
                    <a:pt x="508355" y="277647"/>
                  </a:lnTo>
                  <a:lnTo>
                    <a:pt x="482625" y="271691"/>
                  </a:lnTo>
                  <a:lnTo>
                    <a:pt x="463181" y="255714"/>
                  </a:lnTo>
                  <a:lnTo>
                    <a:pt x="452031" y="232511"/>
                  </a:lnTo>
                  <a:lnTo>
                    <a:pt x="451205" y="204901"/>
                  </a:lnTo>
                  <a:lnTo>
                    <a:pt x="458508" y="185089"/>
                  </a:lnTo>
                  <a:lnTo>
                    <a:pt x="472122" y="169367"/>
                  </a:lnTo>
                  <a:lnTo>
                    <a:pt x="490296" y="159181"/>
                  </a:lnTo>
                  <a:lnTo>
                    <a:pt x="511276" y="155943"/>
                  </a:lnTo>
                  <a:lnTo>
                    <a:pt x="534136" y="161302"/>
                  </a:lnTo>
                  <a:lnTo>
                    <a:pt x="552386" y="174244"/>
                  </a:lnTo>
                  <a:lnTo>
                    <a:pt x="564502" y="193243"/>
                  </a:lnTo>
                  <a:lnTo>
                    <a:pt x="568883" y="216789"/>
                  </a:lnTo>
                  <a:lnTo>
                    <a:pt x="568883" y="112776"/>
                  </a:lnTo>
                  <a:lnTo>
                    <a:pt x="558673" y="106489"/>
                  </a:lnTo>
                  <a:lnTo>
                    <a:pt x="519849" y="99364"/>
                  </a:lnTo>
                  <a:lnTo>
                    <a:pt x="498614" y="101498"/>
                  </a:lnTo>
                  <a:lnTo>
                    <a:pt x="480098" y="107505"/>
                  </a:lnTo>
                  <a:lnTo>
                    <a:pt x="464540" y="116814"/>
                  </a:lnTo>
                  <a:lnTo>
                    <a:pt x="452158" y="128841"/>
                  </a:lnTo>
                  <a:lnTo>
                    <a:pt x="452158" y="0"/>
                  </a:lnTo>
                  <a:lnTo>
                    <a:pt x="389724" y="0"/>
                  </a:lnTo>
                  <a:lnTo>
                    <a:pt x="389724" y="329933"/>
                  </a:lnTo>
                  <a:lnTo>
                    <a:pt x="452158" y="329933"/>
                  </a:lnTo>
                  <a:lnTo>
                    <a:pt x="452158" y="305752"/>
                  </a:lnTo>
                  <a:lnTo>
                    <a:pt x="464680" y="317639"/>
                  </a:lnTo>
                  <a:lnTo>
                    <a:pt x="480568" y="326783"/>
                  </a:lnTo>
                  <a:lnTo>
                    <a:pt x="499414" y="332638"/>
                  </a:lnTo>
                  <a:lnTo>
                    <a:pt x="520801" y="334695"/>
                  </a:lnTo>
                  <a:lnTo>
                    <a:pt x="558050" y="327507"/>
                  </a:lnTo>
                  <a:lnTo>
                    <a:pt x="593128" y="305752"/>
                  </a:lnTo>
                  <a:lnTo>
                    <a:pt x="613117" y="277647"/>
                  </a:lnTo>
                  <a:lnTo>
                    <a:pt x="619188" y="269100"/>
                  </a:lnTo>
                  <a:lnTo>
                    <a:pt x="629399" y="217258"/>
                  </a:lnTo>
                  <a:close/>
                </a:path>
              </a:pathLst>
            </a:custGeom>
            <a:solidFill>
              <a:srgbClr val="0E5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716" y="6379118"/>
              <a:ext cx="233959" cy="2343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3234" y="289305"/>
            <a:ext cx="10593705" cy="62901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3472815">
              <a:spcBef>
                <a:spcPts val="105"/>
              </a:spcBef>
            </a:pPr>
            <a:r>
              <a:rPr lang="en-US" sz="4000" b="1" spc="-30" err="1">
                <a:solidFill>
                  <a:srgbClr val="016441"/>
                </a:solidFill>
                <a:highlight>
                  <a:srgbClr val="FFFFFF"/>
                </a:highlight>
                <a:ea typeface="Calibri"/>
                <a:cs typeface="Calibri"/>
              </a:rPr>
              <a:t>First</a:t>
            </a:r>
            <a:r>
              <a:rPr lang="en-US" sz="4000" b="1" spc="-30" err="1">
                <a:solidFill>
                  <a:srgbClr val="1C191A"/>
                </a:solidFill>
                <a:highlight>
                  <a:srgbClr val="FFFFFF"/>
                </a:highlight>
                <a:ea typeface="Calibri"/>
                <a:cs typeface="Calibri"/>
              </a:rPr>
              <a:t>Mav</a:t>
            </a:r>
            <a:r>
              <a:rPr lang="en-US" sz="3600" spc="-30">
                <a:solidFill>
                  <a:srgbClr val="FFFFFF"/>
                </a:solidFill>
              </a:rPr>
              <a:t> </a:t>
            </a:r>
            <a:r>
              <a:rPr sz="3600" spc="-10">
                <a:solidFill>
                  <a:srgbClr val="FFFFFF"/>
                </a:solidFill>
              </a:rPr>
              <a:t>Introduction</a:t>
            </a:r>
            <a:endParaRPr lang="en-US" sz="3600"/>
          </a:p>
        </p:txBody>
      </p:sp>
      <p:sp>
        <p:nvSpPr>
          <p:cNvPr id="8" name="object 8"/>
          <p:cNvSpPr txBox="1"/>
          <p:nvPr/>
        </p:nvSpPr>
        <p:spPr>
          <a:xfrm>
            <a:off x="1225261" y="1717156"/>
            <a:ext cx="5411643" cy="4286045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sz="2750">
                <a:latin typeface="Calibri"/>
                <a:cs typeface="Calibri"/>
              </a:rPr>
              <a:t>Shradha</a:t>
            </a:r>
            <a:r>
              <a:rPr sz="2750" spc="75">
                <a:latin typeface="Calibri"/>
                <a:cs typeface="Calibri"/>
              </a:rPr>
              <a:t> </a:t>
            </a:r>
            <a:r>
              <a:rPr sz="2750" spc="-10">
                <a:latin typeface="Calibri"/>
                <a:cs typeface="Calibri"/>
              </a:rPr>
              <a:t>Maharjan</a:t>
            </a:r>
            <a:endParaRPr lang="en-US" sz="275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lang="en-US" sz="2000" i="1" spc="-10">
                <a:latin typeface="Calibri"/>
                <a:cs typeface="Calibri"/>
              </a:rPr>
              <a:t>MS in Computer Science, 2025</a:t>
            </a: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endParaRPr lang="en-US" sz="2000" spc="-1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sz="2750">
                <a:latin typeface="Calibri"/>
                <a:cs typeface="Calibri"/>
              </a:rPr>
              <a:t>Klein</a:t>
            </a:r>
            <a:r>
              <a:rPr sz="2750" spc="80">
                <a:latin typeface="Calibri"/>
                <a:cs typeface="Calibri"/>
              </a:rPr>
              <a:t> </a:t>
            </a:r>
            <a:r>
              <a:rPr sz="2750" spc="-10">
                <a:latin typeface="Calibri"/>
                <a:cs typeface="Calibri"/>
              </a:rPr>
              <a:t>Morrow</a:t>
            </a:r>
            <a:endParaRPr lang="en-US" sz="275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lang="en-US" sz="2000" i="1" spc="-10">
                <a:latin typeface="Calibri"/>
                <a:cs typeface="Calibri"/>
              </a:rPr>
              <a:t>MS in Computer Science, 2026</a:t>
            </a: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endParaRPr lang="en-US" sz="2000" spc="-1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sz="2750">
                <a:latin typeface="Calibri"/>
                <a:cs typeface="Calibri"/>
              </a:rPr>
              <a:t>Venkata</a:t>
            </a:r>
            <a:r>
              <a:rPr sz="2750" spc="10">
                <a:latin typeface="Calibri"/>
                <a:cs typeface="Calibri"/>
              </a:rPr>
              <a:t> </a:t>
            </a:r>
            <a:r>
              <a:rPr sz="2750">
                <a:latin typeface="Calibri"/>
                <a:cs typeface="Calibri"/>
              </a:rPr>
              <a:t>Sai</a:t>
            </a:r>
            <a:r>
              <a:rPr sz="2750" spc="-45">
                <a:latin typeface="Calibri"/>
                <a:cs typeface="Calibri"/>
              </a:rPr>
              <a:t> </a:t>
            </a:r>
            <a:r>
              <a:rPr sz="2750" spc="-10">
                <a:latin typeface="Calibri"/>
                <a:cs typeface="Calibri"/>
              </a:rPr>
              <a:t>Kavuri</a:t>
            </a:r>
            <a:endParaRPr lang="en-US" sz="275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lang="en-US" sz="2000" i="1" spc="-10">
                <a:latin typeface="Calibri"/>
                <a:cs typeface="Calibri"/>
              </a:rPr>
              <a:t>MS in Computer Science, 2026</a:t>
            </a:r>
            <a:endParaRPr lang="en-US"/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endParaRPr lang="en-US" sz="2750" spc="-1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sz="2750">
                <a:latin typeface="Calibri"/>
                <a:cs typeface="Calibri"/>
              </a:rPr>
              <a:t>Preeti</a:t>
            </a:r>
            <a:r>
              <a:rPr sz="2750" spc="30">
                <a:latin typeface="Calibri"/>
                <a:cs typeface="Calibri"/>
              </a:rPr>
              <a:t> </a:t>
            </a:r>
            <a:r>
              <a:rPr sz="2750" spc="-10" err="1">
                <a:latin typeface="Calibri"/>
                <a:cs typeface="Calibri"/>
              </a:rPr>
              <a:t>Timalsina</a:t>
            </a:r>
            <a:endParaRPr sz="2750" spc="-1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  <a:spcBef>
                <a:spcPts val="70"/>
              </a:spcBef>
            </a:pPr>
            <a:r>
              <a:rPr lang="en-US" sz="2000" i="1" spc="-10">
                <a:latin typeface="Calibri"/>
                <a:cs typeface="Calibri"/>
              </a:rPr>
              <a:t>MS in Cybersecurity, May 2026</a:t>
            </a:r>
          </a:p>
        </p:txBody>
      </p:sp>
      <p:pic>
        <p:nvPicPr>
          <p:cNvPr id="9" name="Picture 8" descr="FNBO (First National Bank of Omaha) Reviews | Read Customer Service Reviews  of www.fnbo.com">
            <a:extLst>
              <a:ext uri="{FF2B5EF4-FFF2-40B4-BE49-F238E27FC236}">
                <a16:creationId xmlns:a16="http://schemas.microsoft.com/office/drawing/2014/main" id="{E753BD20-6CFE-7BA3-01BD-3628C3951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396" y="1395412"/>
            <a:ext cx="2705100" cy="2695575"/>
          </a:xfrm>
          <a:prstGeom prst="rect">
            <a:avLst/>
          </a:prstGeom>
        </p:spPr>
      </p:pic>
      <p:pic>
        <p:nvPicPr>
          <p:cNvPr id="12" name="Picture 11" descr="Logos | Office of Strategic Marketing and Communications | University of  Nebraska Omaha">
            <a:extLst>
              <a:ext uri="{FF2B5EF4-FFF2-40B4-BE49-F238E27FC236}">
                <a16:creationId xmlns:a16="http://schemas.microsoft.com/office/drawing/2014/main" id="{0F666A30-95F7-B148-E50C-E65542F49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727" y="1409388"/>
            <a:ext cx="2743200" cy="268147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DB3E52-9430-B116-CD25-43F59F40B83A}"/>
              </a:ext>
            </a:extLst>
          </p:cNvPr>
          <p:cNvCxnSpPr/>
          <p:nvPr/>
        </p:nvCxnSpPr>
        <p:spPr>
          <a:xfrm flipH="1">
            <a:off x="8982838" y="1347964"/>
            <a:ext cx="20170" cy="279128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945879" y="6279283"/>
            <a:ext cx="875030" cy="335280"/>
            <a:chOff x="10945879" y="6279283"/>
            <a:chExt cx="875030" cy="335280"/>
          </a:xfrm>
        </p:grpSpPr>
        <p:sp>
          <p:nvSpPr>
            <p:cNvPr id="5" name="object 5"/>
            <p:cNvSpPr/>
            <p:nvPr/>
          </p:nvSpPr>
          <p:spPr>
            <a:xfrm>
              <a:off x="10945876" y="6279286"/>
              <a:ext cx="629920" cy="335280"/>
            </a:xfrm>
            <a:custGeom>
              <a:avLst/>
              <a:gdLst/>
              <a:ahLst/>
              <a:cxnLst/>
              <a:rect l="l" t="t" r="r" b="b"/>
              <a:pathLst>
                <a:path w="629920" h="335279">
                  <a:moveTo>
                    <a:pt x="367372" y="192074"/>
                  </a:moveTo>
                  <a:lnTo>
                    <a:pt x="361543" y="153111"/>
                  </a:lnTo>
                  <a:lnTo>
                    <a:pt x="344665" y="123964"/>
                  </a:lnTo>
                  <a:lnTo>
                    <a:pt x="317703" y="105689"/>
                  </a:lnTo>
                  <a:lnTo>
                    <a:pt x="281571" y="99364"/>
                  </a:lnTo>
                  <a:lnTo>
                    <a:pt x="263055" y="101434"/>
                  </a:lnTo>
                  <a:lnTo>
                    <a:pt x="246265" y="107391"/>
                  </a:lnTo>
                  <a:lnTo>
                    <a:pt x="231521" y="116814"/>
                  </a:lnTo>
                  <a:lnTo>
                    <a:pt x="219151" y="129311"/>
                  </a:lnTo>
                  <a:lnTo>
                    <a:pt x="219151" y="104127"/>
                  </a:lnTo>
                  <a:lnTo>
                    <a:pt x="100533" y="104127"/>
                  </a:lnTo>
                  <a:lnTo>
                    <a:pt x="100533" y="98882"/>
                  </a:lnTo>
                  <a:lnTo>
                    <a:pt x="101879" y="77457"/>
                  </a:lnTo>
                  <a:lnTo>
                    <a:pt x="107683" y="65074"/>
                  </a:lnTo>
                  <a:lnTo>
                    <a:pt x="120624" y="59372"/>
                  </a:lnTo>
                  <a:lnTo>
                    <a:pt x="143383" y="58000"/>
                  </a:lnTo>
                  <a:lnTo>
                    <a:pt x="143383" y="0"/>
                  </a:lnTo>
                  <a:lnTo>
                    <a:pt x="138176" y="0"/>
                  </a:lnTo>
                  <a:lnTo>
                    <a:pt x="90652" y="5016"/>
                  </a:lnTo>
                  <a:lnTo>
                    <a:pt x="59969" y="21577"/>
                  </a:lnTo>
                  <a:lnTo>
                    <a:pt x="43497" y="51955"/>
                  </a:lnTo>
                  <a:lnTo>
                    <a:pt x="38595" y="98412"/>
                  </a:lnTo>
                  <a:lnTo>
                    <a:pt x="38595" y="104127"/>
                  </a:lnTo>
                  <a:lnTo>
                    <a:pt x="0" y="104127"/>
                  </a:lnTo>
                  <a:lnTo>
                    <a:pt x="0" y="159740"/>
                  </a:lnTo>
                  <a:lnTo>
                    <a:pt x="38595" y="159740"/>
                  </a:lnTo>
                  <a:lnTo>
                    <a:pt x="38595" y="329933"/>
                  </a:lnTo>
                  <a:lnTo>
                    <a:pt x="100533" y="329933"/>
                  </a:lnTo>
                  <a:lnTo>
                    <a:pt x="100533" y="159740"/>
                  </a:lnTo>
                  <a:lnTo>
                    <a:pt x="157734" y="159740"/>
                  </a:lnTo>
                  <a:lnTo>
                    <a:pt x="157734" y="329933"/>
                  </a:lnTo>
                  <a:lnTo>
                    <a:pt x="219659" y="329933"/>
                  </a:lnTo>
                  <a:lnTo>
                    <a:pt x="219659" y="206806"/>
                  </a:lnTo>
                  <a:lnTo>
                    <a:pt x="223088" y="182295"/>
                  </a:lnTo>
                  <a:lnTo>
                    <a:pt x="232410" y="165442"/>
                  </a:lnTo>
                  <a:lnTo>
                    <a:pt x="246202" y="155727"/>
                  </a:lnTo>
                  <a:lnTo>
                    <a:pt x="263029" y="152615"/>
                  </a:lnTo>
                  <a:lnTo>
                    <a:pt x="280936" y="155829"/>
                  </a:lnTo>
                  <a:lnTo>
                    <a:pt x="293903" y="165150"/>
                  </a:lnTo>
                  <a:lnTo>
                    <a:pt x="301777" y="180086"/>
                  </a:lnTo>
                  <a:lnTo>
                    <a:pt x="304431" y="200152"/>
                  </a:lnTo>
                  <a:lnTo>
                    <a:pt x="304431" y="329933"/>
                  </a:lnTo>
                  <a:lnTo>
                    <a:pt x="367372" y="329933"/>
                  </a:lnTo>
                  <a:lnTo>
                    <a:pt x="367372" y="192074"/>
                  </a:lnTo>
                  <a:close/>
                </a:path>
                <a:path w="629920" h="335279">
                  <a:moveTo>
                    <a:pt x="629399" y="217258"/>
                  </a:moveTo>
                  <a:lnTo>
                    <a:pt x="619518" y="164947"/>
                  </a:lnTo>
                  <a:lnTo>
                    <a:pt x="613244" y="155943"/>
                  </a:lnTo>
                  <a:lnTo>
                    <a:pt x="594372" y="128841"/>
                  </a:lnTo>
                  <a:lnTo>
                    <a:pt x="593915" y="128181"/>
                  </a:lnTo>
                  <a:lnTo>
                    <a:pt x="568883" y="112776"/>
                  </a:lnTo>
                  <a:lnTo>
                    <a:pt x="568883" y="216789"/>
                  </a:lnTo>
                  <a:lnTo>
                    <a:pt x="564261" y="240944"/>
                  </a:lnTo>
                  <a:lnTo>
                    <a:pt x="551497" y="260235"/>
                  </a:lnTo>
                  <a:lnTo>
                    <a:pt x="532307" y="273011"/>
                  </a:lnTo>
                  <a:lnTo>
                    <a:pt x="508355" y="277647"/>
                  </a:lnTo>
                  <a:lnTo>
                    <a:pt x="482625" y="271691"/>
                  </a:lnTo>
                  <a:lnTo>
                    <a:pt x="463181" y="255714"/>
                  </a:lnTo>
                  <a:lnTo>
                    <a:pt x="452031" y="232511"/>
                  </a:lnTo>
                  <a:lnTo>
                    <a:pt x="451205" y="204901"/>
                  </a:lnTo>
                  <a:lnTo>
                    <a:pt x="458508" y="185089"/>
                  </a:lnTo>
                  <a:lnTo>
                    <a:pt x="472122" y="169367"/>
                  </a:lnTo>
                  <a:lnTo>
                    <a:pt x="490296" y="159181"/>
                  </a:lnTo>
                  <a:lnTo>
                    <a:pt x="511276" y="155943"/>
                  </a:lnTo>
                  <a:lnTo>
                    <a:pt x="534136" y="161302"/>
                  </a:lnTo>
                  <a:lnTo>
                    <a:pt x="552386" y="174244"/>
                  </a:lnTo>
                  <a:lnTo>
                    <a:pt x="564502" y="193243"/>
                  </a:lnTo>
                  <a:lnTo>
                    <a:pt x="568883" y="216789"/>
                  </a:lnTo>
                  <a:lnTo>
                    <a:pt x="568883" y="112776"/>
                  </a:lnTo>
                  <a:lnTo>
                    <a:pt x="558673" y="106489"/>
                  </a:lnTo>
                  <a:lnTo>
                    <a:pt x="519849" y="99364"/>
                  </a:lnTo>
                  <a:lnTo>
                    <a:pt x="498614" y="101498"/>
                  </a:lnTo>
                  <a:lnTo>
                    <a:pt x="480098" y="107505"/>
                  </a:lnTo>
                  <a:lnTo>
                    <a:pt x="464540" y="116814"/>
                  </a:lnTo>
                  <a:lnTo>
                    <a:pt x="452158" y="128841"/>
                  </a:lnTo>
                  <a:lnTo>
                    <a:pt x="452158" y="0"/>
                  </a:lnTo>
                  <a:lnTo>
                    <a:pt x="389724" y="0"/>
                  </a:lnTo>
                  <a:lnTo>
                    <a:pt x="389724" y="329933"/>
                  </a:lnTo>
                  <a:lnTo>
                    <a:pt x="452158" y="329933"/>
                  </a:lnTo>
                  <a:lnTo>
                    <a:pt x="452158" y="305752"/>
                  </a:lnTo>
                  <a:lnTo>
                    <a:pt x="464680" y="317639"/>
                  </a:lnTo>
                  <a:lnTo>
                    <a:pt x="480568" y="326783"/>
                  </a:lnTo>
                  <a:lnTo>
                    <a:pt x="499414" y="332638"/>
                  </a:lnTo>
                  <a:lnTo>
                    <a:pt x="520801" y="334695"/>
                  </a:lnTo>
                  <a:lnTo>
                    <a:pt x="558050" y="327507"/>
                  </a:lnTo>
                  <a:lnTo>
                    <a:pt x="593128" y="305752"/>
                  </a:lnTo>
                  <a:lnTo>
                    <a:pt x="613117" y="277647"/>
                  </a:lnTo>
                  <a:lnTo>
                    <a:pt x="619188" y="269100"/>
                  </a:lnTo>
                  <a:lnTo>
                    <a:pt x="629399" y="217258"/>
                  </a:lnTo>
                  <a:close/>
                </a:path>
              </a:pathLst>
            </a:custGeom>
            <a:solidFill>
              <a:srgbClr val="0E5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716" y="6379118"/>
              <a:ext cx="233959" cy="2343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19650">
              <a:lnSpc>
                <a:spcPct val="100000"/>
              </a:lnSpc>
              <a:spcBef>
                <a:spcPts val="105"/>
              </a:spcBef>
            </a:pPr>
            <a:r>
              <a:rPr sz="3600" spc="-10">
                <a:solidFill>
                  <a:srgbClr val="FFFFFF"/>
                </a:solidFill>
              </a:rPr>
              <a:t>Agenda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481968" y="1417880"/>
            <a:ext cx="11008630" cy="5594480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355600" indent="-342900">
              <a:spcBef>
                <a:spcPts val="12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dirty="0">
                <a:latin typeface="Arial MT"/>
                <a:cs typeface="Calibri"/>
              </a:rPr>
              <a:t>Business Problem and available data</a:t>
            </a:r>
            <a:endParaRPr lang="en-US" dirty="0">
              <a:latin typeface="Arial MT"/>
              <a:cs typeface="Calibri"/>
            </a:endParaRPr>
          </a:p>
          <a:p>
            <a:pPr marL="355600" indent="-342900">
              <a:spcBef>
                <a:spcPts val="12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dirty="0"/>
              <a:t>Portfolio Overview</a:t>
            </a:r>
          </a:p>
          <a:p>
            <a:pPr marL="355600" indent="-342900">
              <a:spcBef>
                <a:spcPts val="12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dirty="0">
                <a:latin typeface="Arial MT"/>
                <a:cs typeface="Calibri"/>
              </a:rPr>
              <a:t>Overview of data</a:t>
            </a:r>
            <a:endParaRPr lang="en-US" dirty="0"/>
          </a:p>
          <a:p>
            <a:pPr marL="12700">
              <a:spcBef>
                <a:spcPts val="125"/>
              </a:spcBef>
              <a:tabLst>
                <a:tab pos="355600" algn="l"/>
              </a:tabLst>
            </a:pPr>
            <a:r>
              <a:rPr lang="en-US" b="1" i="1" dirty="0">
                <a:latin typeface="Arial MT"/>
                <a:cs typeface="Calibri"/>
              </a:rPr>
              <a:t>   Who</a:t>
            </a:r>
            <a:r>
              <a:rPr lang="en-US" b="1" i="1" spc="-5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are</a:t>
            </a:r>
            <a:r>
              <a:rPr lang="en-US" b="1" i="1" spc="10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FNBO's</a:t>
            </a:r>
            <a:r>
              <a:rPr lang="en-US" b="1" i="1" spc="-7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secured</a:t>
            </a:r>
            <a:r>
              <a:rPr lang="en-US" b="1" i="1" spc="-5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credit</a:t>
            </a:r>
            <a:r>
              <a:rPr lang="en-US" b="1" i="1" spc="-40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card</a:t>
            </a:r>
            <a:r>
              <a:rPr lang="en-US" b="1" i="1" spc="-55" dirty="0">
                <a:latin typeface="Arial MT"/>
                <a:cs typeface="Calibri"/>
              </a:rPr>
              <a:t> </a:t>
            </a:r>
            <a:r>
              <a:rPr lang="en-US" b="1" i="1" spc="-10" dirty="0">
                <a:latin typeface="Arial MT"/>
                <a:cs typeface="Calibri"/>
              </a:rPr>
              <a:t>customers?</a:t>
            </a:r>
            <a:endParaRPr lang="en-US" i="1" dirty="0">
              <a:latin typeface="Arial MT"/>
              <a:cs typeface="Calibri"/>
            </a:endParaRPr>
          </a:p>
          <a:p>
            <a:pPr marL="12700">
              <a:spcBef>
                <a:spcPts val="5"/>
              </a:spcBef>
              <a:tabLst>
                <a:tab pos="355600" algn="l"/>
              </a:tabLst>
            </a:pPr>
            <a:r>
              <a:rPr lang="en-US" b="1" i="1" dirty="0">
                <a:latin typeface="Arial MT"/>
                <a:cs typeface="Calibri"/>
              </a:rPr>
              <a:t>   What</a:t>
            </a:r>
            <a:r>
              <a:rPr lang="en-US" b="1" i="1" spc="10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are</a:t>
            </a:r>
            <a:r>
              <a:rPr lang="en-US" b="1" i="1" spc="-7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their</a:t>
            </a:r>
            <a:r>
              <a:rPr lang="en-US" b="1" i="1" spc="-7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spending</a:t>
            </a:r>
            <a:r>
              <a:rPr lang="en-US" b="1" i="1" spc="-20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patterns and top categories?</a:t>
            </a:r>
            <a:endParaRPr lang="en-US" i="1" dirty="0">
              <a:latin typeface="Arial MT"/>
              <a:cs typeface="Calibri"/>
            </a:endParaRPr>
          </a:p>
          <a:p>
            <a:pPr marL="12700">
              <a:spcBef>
                <a:spcPts val="5"/>
              </a:spcBef>
              <a:tabLst>
                <a:tab pos="355600" algn="l"/>
              </a:tabLst>
            </a:pPr>
            <a:r>
              <a:rPr lang="en-US" b="1" i="1" dirty="0">
                <a:latin typeface="Arial MT"/>
                <a:cs typeface="Calibri"/>
              </a:rPr>
              <a:t>          Where</a:t>
            </a:r>
            <a:r>
              <a:rPr lang="en-US" b="1" i="1" spc="-30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are</a:t>
            </a:r>
            <a:r>
              <a:rPr lang="en-US" b="1" i="1" spc="-25" dirty="0">
                <a:latin typeface="Arial MT"/>
                <a:cs typeface="Calibri"/>
              </a:rPr>
              <a:t> </a:t>
            </a:r>
            <a:r>
              <a:rPr lang="en-US" b="1" i="1" dirty="0">
                <a:latin typeface="Arial MT"/>
                <a:cs typeface="Calibri"/>
              </a:rPr>
              <a:t>the</a:t>
            </a:r>
            <a:r>
              <a:rPr lang="en-US" b="1" i="1" spc="-30" dirty="0">
                <a:latin typeface="Arial MT"/>
                <a:cs typeface="Calibri"/>
              </a:rPr>
              <a:t> </a:t>
            </a:r>
            <a:r>
              <a:rPr lang="en-US" b="1" i="1" spc="-10" dirty="0">
                <a:latin typeface="Arial MT"/>
                <a:cs typeface="Calibri"/>
              </a:rPr>
              <a:t>customers?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Credit Utilization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Customer Distribution by Credit Score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Fico Trend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Customer Behavior Segments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High Risk Customers and their behavior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Data Driven Predictions – Credit improvement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Opportunities and Strategic Actions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Research studies on New Customers needs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lang="en-US" b="1" spc="-10" dirty="0">
                <a:latin typeface="Arial MT"/>
                <a:cs typeface="Calibri"/>
              </a:rPr>
              <a:t>Conclusion and Closing Thoughts</a:t>
            </a: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endParaRPr lang="en-US" b="1" spc="-10">
              <a:latin typeface="Arial MT"/>
              <a:cs typeface="Calibri"/>
            </a:endParaRP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endParaRPr lang="en-US" b="1" spc="-10">
              <a:latin typeface="Arial MT"/>
              <a:cs typeface="Calibri"/>
            </a:endParaRP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endParaRPr lang="en-US" b="1" spc="-10">
              <a:latin typeface="Arial MT"/>
              <a:cs typeface="Calibri"/>
            </a:endParaRP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endParaRPr lang="en-US" b="1" spc="-10">
              <a:latin typeface="Arial MT"/>
              <a:cs typeface="Calibri"/>
            </a:endParaRPr>
          </a:p>
          <a:p>
            <a:pPr marL="355600" indent="-342900"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endParaRPr lang="en-US" b="1" spc="-10">
              <a:latin typeface="Arial M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0859A-0CCA-4112-6219-44009855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98" y="1289743"/>
            <a:ext cx="5209931" cy="1554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D2E60-CBD7-863A-064F-282E6879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85" y="2845412"/>
            <a:ext cx="3990975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F36F31-CA79-DBD5-166B-DD11168CA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53" y="3291132"/>
            <a:ext cx="5598991" cy="1340583"/>
          </a:xfrm>
          <a:prstGeom prst="rect">
            <a:avLst/>
          </a:prstGeom>
        </p:spPr>
      </p:pic>
      <p:pic>
        <p:nvPicPr>
          <p:cNvPr id="8" name="Picture 7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E2C034B9-1828-D3F0-4076-5129DDA08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67" y="80351"/>
            <a:ext cx="8029575" cy="933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9EA0A-BA54-B275-A8B8-8CC31C523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77" y="713233"/>
            <a:ext cx="12192000" cy="390609"/>
          </a:xfrm>
          <a:prstGeom prst="rect">
            <a:avLst/>
          </a:prstGeom>
        </p:spPr>
      </p:pic>
      <p:pic>
        <p:nvPicPr>
          <p:cNvPr id="10" name="Picture 9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3D84767A-E009-6351-A5D2-A05B1B344F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99" y="4633180"/>
            <a:ext cx="3990975" cy="581025"/>
          </a:xfrm>
          <a:prstGeom prst="rect">
            <a:avLst/>
          </a:prstGeom>
        </p:spPr>
      </p:pic>
      <p:pic>
        <p:nvPicPr>
          <p:cNvPr id="11" name="Picture 1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D2396534-5D67-2BFF-1896-489B37938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867" y="5096120"/>
            <a:ext cx="5010639" cy="1203570"/>
          </a:xfrm>
          <a:prstGeom prst="rect">
            <a:avLst/>
          </a:prstGeom>
        </p:spPr>
      </p:pic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9E78B3B-AB1D-67D9-7ADC-B8514E1AD0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9136" y="3289830"/>
            <a:ext cx="4139142" cy="1558926"/>
          </a:xfrm>
          <a:prstGeom prst="rect">
            <a:avLst/>
          </a:prstGeom>
        </p:spPr>
      </p:pic>
      <p:pic>
        <p:nvPicPr>
          <p:cNvPr id="14" name="Picture 13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1997ADAC-E7A7-A9EF-E947-4A32EFE54A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9232" y="2846917"/>
            <a:ext cx="31242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756642A0-AD27-A7CD-B166-37844D0B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23" y="307853"/>
            <a:ext cx="7162800" cy="77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D0E38-9544-C9AD-97D7-4A55552D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66" y="1388087"/>
            <a:ext cx="9827114" cy="428136"/>
          </a:xfrm>
          <a:prstGeom prst="rect">
            <a:avLst/>
          </a:prstGeom>
        </p:spPr>
      </p:pic>
      <p:pic>
        <p:nvPicPr>
          <p:cNvPr id="7" name="Picture 6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8FFEFC0B-CB79-D752-3E44-11EB3CEE0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14" y="1717554"/>
            <a:ext cx="7167929" cy="765664"/>
          </a:xfrm>
          <a:prstGeom prst="rect">
            <a:avLst/>
          </a:prstGeom>
        </p:spPr>
      </p:pic>
      <p:pic>
        <p:nvPicPr>
          <p:cNvPr id="8" name="Picture 7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B8C2B53E-1DE3-1E90-91BE-D4D8A377E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98" y="2762861"/>
            <a:ext cx="7646622" cy="765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EA6A83-664C-6B24-333D-DC0B2D8C7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865" y="2477234"/>
            <a:ext cx="10393729" cy="438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3C6A47-1AB3-17A8-0A8E-87141F9D8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867" y="3522540"/>
            <a:ext cx="8713422" cy="438150"/>
          </a:xfrm>
          <a:prstGeom prst="rect">
            <a:avLst/>
          </a:prstGeom>
        </p:spPr>
      </p:pic>
      <p:pic>
        <p:nvPicPr>
          <p:cNvPr id="12" name="Picture 1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8A4FF73-7EE2-979E-DE63-FED563E22C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882" y="3852008"/>
            <a:ext cx="8027622" cy="824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69FA04-ABED-71C7-4098-5F543E279E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867" y="4563086"/>
            <a:ext cx="9934575" cy="447675"/>
          </a:xfrm>
          <a:prstGeom prst="rect">
            <a:avLst/>
          </a:prstGeom>
        </p:spPr>
      </p:pic>
      <p:pic>
        <p:nvPicPr>
          <p:cNvPr id="14" name="Picture 1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5E40854F-4B26-8460-4944-91CBA1B535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498" y="4897316"/>
            <a:ext cx="7480545" cy="765908"/>
          </a:xfrm>
          <a:prstGeom prst="rect">
            <a:avLst/>
          </a:prstGeom>
        </p:spPr>
      </p:pic>
      <p:pic>
        <p:nvPicPr>
          <p:cNvPr id="16" name="Picture 15" descr="A green numbers and black text&#10;&#10;AI-generated content may be incorrect.">
            <a:extLst>
              <a:ext uri="{FF2B5EF4-FFF2-40B4-BE49-F238E27FC236}">
                <a16:creationId xmlns:a16="http://schemas.microsoft.com/office/drawing/2014/main" id="{0A422CFF-D1DB-1F2E-9735-06452688D7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7708" y="1425604"/>
            <a:ext cx="2571750" cy="1333500"/>
          </a:xfrm>
          <a:prstGeom prst="rect">
            <a:avLst/>
          </a:prstGeom>
        </p:spPr>
      </p:pic>
      <p:pic>
        <p:nvPicPr>
          <p:cNvPr id="18" name="Picture 17" descr="A green and black text&#10;&#10;AI-generated content may be incorrect.">
            <a:extLst>
              <a:ext uri="{FF2B5EF4-FFF2-40B4-BE49-F238E27FC236}">
                <a16:creationId xmlns:a16="http://schemas.microsoft.com/office/drawing/2014/main" id="{910BD6E1-19C9-C2E2-9604-017929C14F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0071" y="1420745"/>
            <a:ext cx="2565588" cy="1348815"/>
          </a:xfrm>
          <a:prstGeom prst="rect">
            <a:avLst/>
          </a:prstGeom>
        </p:spPr>
      </p:pic>
      <p:pic>
        <p:nvPicPr>
          <p:cNvPr id="21" name="Picture 20" descr="A green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96C82E7-68BE-30E5-E0BC-6067A08AD3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8170" y="3921794"/>
            <a:ext cx="2573058" cy="1348816"/>
          </a:xfrm>
          <a:prstGeom prst="rect">
            <a:avLst/>
          </a:prstGeom>
        </p:spPr>
      </p:pic>
      <p:pic>
        <p:nvPicPr>
          <p:cNvPr id="23" name="Picture 22" descr="A green and black sign with numbers&#10;&#10;AI-generated content may be incorrect.">
            <a:extLst>
              <a:ext uri="{FF2B5EF4-FFF2-40B4-BE49-F238E27FC236}">
                <a16:creationId xmlns:a16="http://schemas.microsoft.com/office/drawing/2014/main" id="{0AFE53CA-90AA-EAE5-3B38-767AAF3C9F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82327" y="3924480"/>
            <a:ext cx="2573058" cy="135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9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8E6D-3543-7D58-B01C-B7EADD69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162F1-056E-4A14-1668-DFD8C910C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234" y="1553662"/>
            <a:ext cx="5506720" cy="61555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83.5% of accounts improved vs. open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6FCDD85-B4EF-ABAA-280D-166A7530B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6" y="1890279"/>
            <a:ext cx="11156832" cy="398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4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/>
              <a:t>Secured</a:t>
            </a:r>
            <a:r>
              <a:rPr sz="3900" spc="-35"/>
              <a:t> </a:t>
            </a:r>
            <a:r>
              <a:rPr sz="3900"/>
              <a:t>Credit</a:t>
            </a:r>
            <a:r>
              <a:rPr sz="3900" spc="-65"/>
              <a:t> </a:t>
            </a:r>
            <a:r>
              <a:rPr sz="3900"/>
              <a:t>Card</a:t>
            </a:r>
            <a:r>
              <a:rPr sz="3900" spc="-105"/>
              <a:t> </a:t>
            </a:r>
            <a:r>
              <a:rPr sz="3900"/>
              <a:t>Customers.</a:t>
            </a:r>
            <a:r>
              <a:rPr sz="3900" spc="-80"/>
              <a:t> </a:t>
            </a:r>
            <a:r>
              <a:rPr sz="3900"/>
              <a:t>Who</a:t>
            </a:r>
            <a:r>
              <a:rPr sz="3900" spc="-100"/>
              <a:t> </a:t>
            </a:r>
            <a:r>
              <a:rPr sz="3900"/>
              <a:t>are</a:t>
            </a:r>
            <a:r>
              <a:rPr sz="3900" spc="-105"/>
              <a:t> </a:t>
            </a:r>
            <a:r>
              <a:rPr sz="3900" spc="-10"/>
              <a:t>they?</a:t>
            </a:r>
            <a:endParaRPr sz="3900"/>
          </a:p>
        </p:txBody>
      </p:sp>
      <p:pic>
        <p:nvPicPr>
          <p:cNvPr id="7" name="Picture 6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F79AF21A-9637-5DAC-8F8A-031FE279F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82" y="1188210"/>
            <a:ext cx="3517590" cy="3592237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E602D30-8E55-770C-EEC3-F67ED2F84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319" y="970521"/>
            <a:ext cx="7570205" cy="3823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066CF4-4FB2-DE8F-1BC5-D25AAEB21980}"/>
              </a:ext>
            </a:extLst>
          </p:cNvPr>
          <p:cNvSpPr txBox="1"/>
          <p:nvPr/>
        </p:nvSpPr>
        <p:spPr>
          <a:xfrm>
            <a:off x="3050528" y="491334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Market Share by income group and generation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5"/>
              </a:spcBef>
            </a:pPr>
            <a:r>
              <a:rPr sz="3600" spc="-40">
                <a:solidFill>
                  <a:srgbClr val="FFFFFF"/>
                </a:solidFill>
              </a:rPr>
              <a:t>Total</a:t>
            </a:r>
            <a:r>
              <a:rPr sz="3600" spc="-9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Spend</a:t>
            </a:r>
            <a:r>
              <a:rPr sz="3600" spc="-8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and</a:t>
            </a:r>
            <a:r>
              <a:rPr sz="3600" spc="-8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transaction</a:t>
            </a:r>
            <a:r>
              <a:rPr sz="3600" spc="-8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count</a:t>
            </a:r>
            <a:r>
              <a:rPr sz="3600" spc="-5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by</a:t>
            </a:r>
            <a:r>
              <a:rPr sz="3600" spc="-25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Generation</a:t>
            </a:r>
            <a:endParaRPr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27D28-5FB5-CDE3-0CDD-EA9934BA2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1" y="1194081"/>
            <a:ext cx="8652711" cy="2604180"/>
          </a:xfrm>
          <a:prstGeom prst="rect">
            <a:avLst/>
          </a:prstGeom>
        </p:spPr>
      </p:pic>
      <p:pic>
        <p:nvPicPr>
          <p:cNvPr id="3" name="Picture 2" descr="A graph showing the amount of money in the total spend&#10;&#10;AI-generated content may be incorrect.">
            <a:extLst>
              <a:ext uri="{FF2B5EF4-FFF2-40B4-BE49-F238E27FC236}">
                <a16:creationId xmlns:a16="http://schemas.microsoft.com/office/drawing/2014/main" id="{245759D0-67C9-14F1-7EDF-1DB1964D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41" y="3802686"/>
            <a:ext cx="9396904" cy="27678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Where</a:t>
            </a:r>
            <a:r>
              <a:rPr spc="-10"/>
              <a:t> </a:t>
            </a:r>
            <a:r>
              <a:t>are</a:t>
            </a:r>
            <a:r>
              <a:rPr spc="-10"/>
              <a:t> </a:t>
            </a:r>
            <a:r>
              <a:t>the</a:t>
            </a:r>
            <a:r>
              <a:rPr spc="-10"/>
              <a:t> customers?</a:t>
            </a:r>
          </a:p>
        </p:txBody>
      </p:sp>
      <p:pic>
        <p:nvPicPr>
          <p:cNvPr id="6" name="Picture 5" descr="A graph of the states by account count&#10;&#10;AI-generated content may be incorrect.">
            <a:extLst>
              <a:ext uri="{FF2B5EF4-FFF2-40B4-BE49-F238E27FC236}">
                <a16:creationId xmlns:a16="http://schemas.microsoft.com/office/drawing/2014/main" id="{FF457EAF-88BD-EB9D-7EEF-98C36D0B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8828"/>
            <a:ext cx="12192000" cy="5167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42715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Credit</a:t>
            </a:r>
            <a:r>
              <a:rPr sz="3600" spc="-55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Utilization</a:t>
            </a:r>
            <a:endParaRPr sz="36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9B28A74-E2FB-6310-55FE-875268C0A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12" y="1313588"/>
            <a:ext cx="9862145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Customer</a:t>
            </a:r>
            <a:r>
              <a:rPr sz="3600" spc="-6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Distribution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by</a:t>
            </a:r>
            <a:r>
              <a:rPr sz="3600" spc="1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Credit</a:t>
            </a:r>
            <a:r>
              <a:rPr sz="3600" spc="-1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Score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Group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702562" y="2252916"/>
            <a:ext cx="3388360" cy="1339469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600" b="1">
                <a:latin typeface="Calibri"/>
                <a:cs typeface="Calibri"/>
              </a:rPr>
              <a:t>68.4%</a:t>
            </a:r>
            <a:r>
              <a:rPr sz="2750" b="1" spc="-15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in</a:t>
            </a:r>
            <a:r>
              <a:rPr sz="2000" b="1" spc="-4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poor</a:t>
            </a:r>
            <a:r>
              <a:rPr sz="2000" b="1" spc="-55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to</a:t>
            </a:r>
            <a:r>
              <a:rPr sz="2000" b="1" spc="30">
                <a:latin typeface="Calibri"/>
                <a:cs typeface="Calibri"/>
              </a:rPr>
              <a:t> </a:t>
            </a:r>
            <a:r>
              <a:rPr sz="2000" b="1">
                <a:latin typeface="Calibri"/>
                <a:cs typeface="Calibri"/>
              </a:rPr>
              <a:t>fair</a:t>
            </a:r>
            <a:r>
              <a:rPr sz="2000" b="1" spc="25">
                <a:latin typeface="Calibri"/>
                <a:cs typeface="Calibri"/>
              </a:rPr>
              <a:t> </a:t>
            </a:r>
            <a:r>
              <a:rPr sz="2000" b="1" spc="-10">
                <a:latin typeface="Calibri"/>
                <a:cs typeface="Calibri"/>
              </a:rPr>
              <a:t>category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Picture 4" descr="A graph of a customer distribution&#10;&#10;AI-generated content may be incorrect.">
            <a:extLst>
              <a:ext uri="{FF2B5EF4-FFF2-40B4-BE49-F238E27FC236}">
                <a16:creationId xmlns:a16="http://schemas.microsoft.com/office/drawing/2014/main" id="{8ED837DA-0239-70E0-5565-554AC159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93" r="-89" b="-162"/>
          <a:stretch>
            <a:fillRect/>
          </a:stretch>
        </p:blipFill>
        <p:spPr>
          <a:xfrm>
            <a:off x="107950" y="1475067"/>
            <a:ext cx="8509753" cy="5065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73EB1-551D-1C43-CB68-45B7F64D378E}"/>
              </a:ext>
            </a:extLst>
          </p:cNvPr>
          <p:cNvSpPr txBox="1"/>
          <p:nvPr/>
        </p:nvSpPr>
        <p:spPr>
          <a:xfrm>
            <a:off x="8820576" y="3847451"/>
            <a:ext cx="297397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Score &lt; 580 = Poor</a:t>
            </a:r>
            <a:br>
              <a:rPr lang="en-US"/>
            </a:b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 580 - 669 = Fair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 670 - 739 = Good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 740 - 799 = Very Good</a:t>
            </a:r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 &gt;=800 then Excellent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945879" y="6279283"/>
            <a:ext cx="875030" cy="335280"/>
            <a:chOff x="10945879" y="6279283"/>
            <a:chExt cx="875030" cy="335280"/>
          </a:xfrm>
        </p:grpSpPr>
        <p:sp>
          <p:nvSpPr>
            <p:cNvPr id="5" name="object 5"/>
            <p:cNvSpPr/>
            <p:nvPr/>
          </p:nvSpPr>
          <p:spPr>
            <a:xfrm>
              <a:off x="10945876" y="6279286"/>
              <a:ext cx="629920" cy="335280"/>
            </a:xfrm>
            <a:custGeom>
              <a:avLst/>
              <a:gdLst/>
              <a:ahLst/>
              <a:cxnLst/>
              <a:rect l="l" t="t" r="r" b="b"/>
              <a:pathLst>
                <a:path w="629920" h="335279">
                  <a:moveTo>
                    <a:pt x="367372" y="192074"/>
                  </a:moveTo>
                  <a:lnTo>
                    <a:pt x="361543" y="153111"/>
                  </a:lnTo>
                  <a:lnTo>
                    <a:pt x="344665" y="123964"/>
                  </a:lnTo>
                  <a:lnTo>
                    <a:pt x="317703" y="105689"/>
                  </a:lnTo>
                  <a:lnTo>
                    <a:pt x="281571" y="99364"/>
                  </a:lnTo>
                  <a:lnTo>
                    <a:pt x="263055" y="101434"/>
                  </a:lnTo>
                  <a:lnTo>
                    <a:pt x="246265" y="107391"/>
                  </a:lnTo>
                  <a:lnTo>
                    <a:pt x="231521" y="116814"/>
                  </a:lnTo>
                  <a:lnTo>
                    <a:pt x="219151" y="129311"/>
                  </a:lnTo>
                  <a:lnTo>
                    <a:pt x="219151" y="104127"/>
                  </a:lnTo>
                  <a:lnTo>
                    <a:pt x="100533" y="104127"/>
                  </a:lnTo>
                  <a:lnTo>
                    <a:pt x="100533" y="98882"/>
                  </a:lnTo>
                  <a:lnTo>
                    <a:pt x="101879" y="77457"/>
                  </a:lnTo>
                  <a:lnTo>
                    <a:pt x="107683" y="65074"/>
                  </a:lnTo>
                  <a:lnTo>
                    <a:pt x="120624" y="59372"/>
                  </a:lnTo>
                  <a:lnTo>
                    <a:pt x="143383" y="58000"/>
                  </a:lnTo>
                  <a:lnTo>
                    <a:pt x="143383" y="0"/>
                  </a:lnTo>
                  <a:lnTo>
                    <a:pt x="138176" y="0"/>
                  </a:lnTo>
                  <a:lnTo>
                    <a:pt x="90652" y="5016"/>
                  </a:lnTo>
                  <a:lnTo>
                    <a:pt x="59969" y="21577"/>
                  </a:lnTo>
                  <a:lnTo>
                    <a:pt x="43497" y="51955"/>
                  </a:lnTo>
                  <a:lnTo>
                    <a:pt x="38595" y="98412"/>
                  </a:lnTo>
                  <a:lnTo>
                    <a:pt x="38595" y="104127"/>
                  </a:lnTo>
                  <a:lnTo>
                    <a:pt x="0" y="104127"/>
                  </a:lnTo>
                  <a:lnTo>
                    <a:pt x="0" y="159740"/>
                  </a:lnTo>
                  <a:lnTo>
                    <a:pt x="38595" y="159740"/>
                  </a:lnTo>
                  <a:lnTo>
                    <a:pt x="38595" y="329933"/>
                  </a:lnTo>
                  <a:lnTo>
                    <a:pt x="100533" y="329933"/>
                  </a:lnTo>
                  <a:lnTo>
                    <a:pt x="100533" y="159740"/>
                  </a:lnTo>
                  <a:lnTo>
                    <a:pt x="157734" y="159740"/>
                  </a:lnTo>
                  <a:lnTo>
                    <a:pt x="157734" y="329933"/>
                  </a:lnTo>
                  <a:lnTo>
                    <a:pt x="219659" y="329933"/>
                  </a:lnTo>
                  <a:lnTo>
                    <a:pt x="219659" y="206806"/>
                  </a:lnTo>
                  <a:lnTo>
                    <a:pt x="223088" y="182295"/>
                  </a:lnTo>
                  <a:lnTo>
                    <a:pt x="232410" y="165442"/>
                  </a:lnTo>
                  <a:lnTo>
                    <a:pt x="246202" y="155727"/>
                  </a:lnTo>
                  <a:lnTo>
                    <a:pt x="263029" y="152615"/>
                  </a:lnTo>
                  <a:lnTo>
                    <a:pt x="280936" y="155829"/>
                  </a:lnTo>
                  <a:lnTo>
                    <a:pt x="293903" y="165150"/>
                  </a:lnTo>
                  <a:lnTo>
                    <a:pt x="301777" y="180086"/>
                  </a:lnTo>
                  <a:lnTo>
                    <a:pt x="304431" y="200152"/>
                  </a:lnTo>
                  <a:lnTo>
                    <a:pt x="304431" y="329933"/>
                  </a:lnTo>
                  <a:lnTo>
                    <a:pt x="367372" y="329933"/>
                  </a:lnTo>
                  <a:lnTo>
                    <a:pt x="367372" y="192074"/>
                  </a:lnTo>
                  <a:close/>
                </a:path>
                <a:path w="629920" h="335279">
                  <a:moveTo>
                    <a:pt x="629399" y="217258"/>
                  </a:moveTo>
                  <a:lnTo>
                    <a:pt x="619518" y="164947"/>
                  </a:lnTo>
                  <a:lnTo>
                    <a:pt x="613244" y="155943"/>
                  </a:lnTo>
                  <a:lnTo>
                    <a:pt x="594372" y="128841"/>
                  </a:lnTo>
                  <a:lnTo>
                    <a:pt x="593915" y="128181"/>
                  </a:lnTo>
                  <a:lnTo>
                    <a:pt x="568883" y="112776"/>
                  </a:lnTo>
                  <a:lnTo>
                    <a:pt x="568883" y="216789"/>
                  </a:lnTo>
                  <a:lnTo>
                    <a:pt x="564261" y="240944"/>
                  </a:lnTo>
                  <a:lnTo>
                    <a:pt x="551497" y="260235"/>
                  </a:lnTo>
                  <a:lnTo>
                    <a:pt x="532307" y="273011"/>
                  </a:lnTo>
                  <a:lnTo>
                    <a:pt x="508355" y="277647"/>
                  </a:lnTo>
                  <a:lnTo>
                    <a:pt x="482625" y="271691"/>
                  </a:lnTo>
                  <a:lnTo>
                    <a:pt x="463181" y="255714"/>
                  </a:lnTo>
                  <a:lnTo>
                    <a:pt x="452031" y="232511"/>
                  </a:lnTo>
                  <a:lnTo>
                    <a:pt x="451205" y="204901"/>
                  </a:lnTo>
                  <a:lnTo>
                    <a:pt x="458508" y="185089"/>
                  </a:lnTo>
                  <a:lnTo>
                    <a:pt x="472122" y="169367"/>
                  </a:lnTo>
                  <a:lnTo>
                    <a:pt x="490296" y="159181"/>
                  </a:lnTo>
                  <a:lnTo>
                    <a:pt x="511276" y="155943"/>
                  </a:lnTo>
                  <a:lnTo>
                    <a:pt x="534136" y="161302"/>
                  </a:lnTo>
                  <a:lnTo>
                    <a:pt x="552386" y="174244"/>
                  </a:lnTo>
                  <a:lnTo>
                    <a:pt x="564502" y="193243"/>
                  </a:lnTo>
                  <a:lnTo>
                    <a:pt x="568883" y="216789"/>
                  </a:lnTo>
                  <a:lnTo>
                    <a:pt x="568883" y="112776"/>
                  </a:lnTo>
                  <a:lnTo>
                    <a:pt x="558673" y="106489"/>
                  </a:lnTo>
                  <a:lnTo>
                    <a:pt x="519849" y="99364"/>
                  </a:lnTo>
                  <a:lnTo>
                    <a:pt x="498614" y="101498"/>
                  </a:lnTo>
                  <a:lnTo>
                    <a:pt x="480098" y="107505"/>
                  </a:lnTo>
                  <a:lnTo>
                    <a:pt x="464540" y="116814"/>
                  </a:lnTo>
                  <a:lnTo>
                    <a:pt x="452158" y="128841"/>
                  </a:lnTo>
                  <a:lnTo>
                    <a:pt x="452158" y="0"/>
                  </a:lnTo>
                  <a:lnTo>
                    <a:pt x="389724" y="0"/>
                  </a:lnTo>
                  <a:lnTo>
                    <a:pt x="389724" y="329933"/>
                  </a:lnTo>
                  <a:lnTo>
                    <a:pt x="452158" y="329933"/>
                  </a:lnTo>
                  <a:lnTo>
                    <a:pt x="452158" y="305752"/>
                  </a:lnTo>
                  <a:lnTo>
                    <a:pt x="464680" y="317639"/>
                  </a:lnTo>
                  <a:lnTo>
                    <a:pt x="480568" y="326783"/>
                  </a:lnTo>
                  <a:lnTo>
                    <a:pt x="499414" y="332638"/>
                  </a:lnTo>
                  <a:lnTo>
                    <a:pt x="520801" y="334695"/>
                  </a:lnTo>
                  <a:lnTo>
                    <a:pt x="558050" y="327507"/>
                  </a:lnTo>
                  <a:lnTo>
                    <a:pt x="593128" y="305752"/>
                  </a:lnTo>
                  <a:lnTo>
                    <a:pt x="613117" y="277647"/>
                  </a:lnTo>
                  <a:lnTo>
                    <a:pt x="619188" y="269100"/>
                  </a:lnTo>
                  <a:lnTo>
                    <a:pt x="629399" y="217258"/>
                  </a:lnTo>
                  <a:close/>
                </a:path>
              </a:pathLst>
            </a:custGeom>
            <a:solidFill>
              <a:srgbClr val="0E5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716" y="6379118"/>
              <a:ext cx="233959" cy="2343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9110">
              <a:lnSpc>
                <a:spcPct val="100000"/>
              </a:lnSpc>
              <a:spcBef>
                <a:spcPts val="105"/>
              </a:spcBef>
            </a:pPr>
            <a:r>
              <a:rPr sz="3600" spc="-75">
                <a:solidFill>
                  <a:srgbClr val="FFFFFF"/>
                </a:solidFill>
              </a:rPr>
              <a:t>Top</a:t>
            </a:r>
            <a:r>
              <a:rPr sz="3600" spc="-114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Spending</a:t>
            </a:r>
            <a:r>
              <a:rPr sz="3600" spc="-10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Category</a:t>
            </a:r>
            <a:r>
              <a:rPr sz="3600" spc="-5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by</a:t>
            </a:r>
            <a:r>
              <a:rPr sz="3600" spc="-50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generation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8819515" y="1502092"/>
            <a:ext cx="3002280" cy="27800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>
                <a:latin typeface="Calibri"/>
                <a:cs typeface="Calibri"/>
              </a:rPr>
              <a:t>Reflects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similar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top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category patterns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all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generations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with </a:t>
            </a:r>
            <a:r>
              <a:rPr sz="1800">
                <a:latin typeface="Calibri"/>
                <a:cs typeface="Calibri"/>
              </a:rPr>
              <a:t>few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up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down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-20" err="1">
                <a:latin typeface="Calibri"/>
                <a:cs typeface="Calibri"/>
              </a:rPr>
              <a:t>GenZ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spending.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800" b="1" spc="-10">
                <a:latin typeface="Calibri"/>
                <a:cs typeface="Calibri"/>
              </a:rPr>
              <a:t>Typical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top</a:t>
            </a:r>
            <a:r>
              <a:rPr sz="1800" b="1" spc="-45">
                <a:latin typeface="Calibri"/>
                <a:cs typeface="Calibri"/>
              </a:rPr>
              <a:t> </a:t>
            </a:r>
            <a:r>
              <a:rPr sz="1800" b="1" spc="-25">
                <a:latin typeface="Calibri"/>
                <a:cs typeface="Calibri"/>
              </a:rPr>
              <a:t>3: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>
                <a:latin typeface="Calibri"/>
                <a:cs typeface="Calibri"/>
              </a:rPr>
              <a:t>Groceries,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Gas,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Dining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>
                <a:latin typeface="Calibri"/>
                <a:cs typeface="Calibri"/>
              </a:rPr>
              <a:t>Gen</a:t>
            </a:r>
            <a:r>
              <a:rPr sz="1800" b="1" spc="1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Z</a:t>
            </a:r>
            <a:r>
              <a:rPr sz="1800" b="1" spc="-2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top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 spc="-25">
                <a:latin typeface="Calibri"/>
                <a:cs typeface="Calibri"/>
              </a:rPr>
              <a:t>3: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>
                <a:latin typeface="Calibri"/>
                <a:cs typeface="Calibri"/>
              </a:rPr>
              <a:t>Gas,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Dining,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Groceries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5B49D-9136-9734-75ED-F388609CE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78" y="1219200"/>
            <a:ext cx="8136419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76145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FICO</a:t>
            </a:r>
            <a:r>
              <a:rPr sz="3600" spc="-2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at</a:t>
            </a:r>
            <a:r>
              <a:rPr sz="3600" spc="-22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Account</a:t>
            </a:r>
            <a:r>
              <a:rPr sz="3600" spc="-9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opening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vs.</a:t>
            </a:r>
            <a:r>
              <a:rPr sz="3600" spc="-15">
                <a:solidFill>
                  <a:srgbClr val="FFFFFF"/>
                </a:solidFill>
              </a:rPr>
              <a:t> </a:t>
            </a:r>
            <a:r>
              <a:rPr sz="3600" spc="-25">
                <a:solidFill>
                  <a:srgbClr val="FFFFFF"/>
                </a:solidFill>
              </a:rPr>
              <a:t>Now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65" y="1424171"/>
            <a:ext cx="9499863" cy="4534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BBE6E-5B5C-020F-7AAC-18031B68D11C}"/>
              </a:ext>
            </a:extLst>
          </p:cNvPr>
          <p:cNvSpPr txBox="1"/>
          <p:nvPr/>
        </p:nvSpPr>
        <p:spPr>
          <a:xfrm>
            <a:off x="9734177" y="2371912"/>
            <a:ext cx="245782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b="1"/>
              <a:t>83.5%</a:t>
            </a:r>
            <a:r>
              <a:rPr lang="en-US"/>
              <a:t> of accounts improved vs. open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FICO</a:t>
            </a:r>
            <a:r>
              <a:rPr spc="-80"/>
              <a:t> </a:t>
            </a:r>
            <a:r>
              <a:t>Score</a:t>
            </a:r>
            <a:r>
              <a:rPr spc="-145"/>
              <a:t> </a:t>
            </a:r>
            <a:r>
              <a:rPr spc="-10"/>
              <a:t>Trend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6820" y="1582071"/>
            <a:ext cx="4385945" cy="1564640"/>
          </a:xfrm>
          <a:prstGeom prst="rect">
            <a:avLst/>
          </a:prstGeom>
        </p:spPr>
        <p:txBody>
          <a:bodyPr vert="horz" wrap="square" lIns="0" tIns="139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600" b="1">
                <a:latin typeface="Arial"/>
                <a:cs typeface="Arial"/>
              </a:rPr>
              <a:t>2025-March</a:t>
            </a:r>
            <a:r>
              <a:rPr sz="2600" b="1" spc="180">
                <a:latin typeface="Arial"/>
                <a:cs typeface="Arial"/>
              </a:rPr>
              <a:t> </a:t>
            </a:r>
            <a:r>
              <a:rPr sz="2600" b="1" spc="-25">
                <a:latin typeface="Arial"/>
                <a:cs typeface="Arial"/>
              </a:rPr>
              <a:t>Dip</a:t>
            </a:r>
            <a:endParaRPr sz="2600">
              <a:latin typeface="Arial"/>
              <a:cs typeface="Arial"/>
            </a:endParaRPr>
          </a:p>
          <a:p>
            <a:pPr marL="469265" marR="5080" indent="-457200">
              <a:lnSpc>
                <a:spcPct val="100000"/>
              </a:lnSpc>
              <a:spcBef>
                <a:spcPts val="785"/>
              </a:spcBef>
              <a:buChar char="•"/>
              <a:tabLst>
                <a:tab pos="469265" algn="l"/>
              </a:tabLst>
            </a:pPr>
            <a:r>
              <a:rPr sz="2000">
                <a:latin typeface="Arial MT"/>
                <a:cs typeface="Arial MT"/>
              </a:rPr>
              <a:t>Student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loan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lang="en-US" sz="2000" spc="-10">
                <a:latin typeface="Arial MT"/>
                <a:cs typeface="Arial MT"/>
              </a:rPr>
              <a:t>delinquencies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reappearing</a:t>
            </a:r>
            <a:r>
              <a:rPr sz="2000" spc="-5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on</a:t>
            </a:r>
            <a:r>
              <a:rPr sz="2000" spc="-5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credit</a:t>
            </a:r>
            <a:r>
              <a:rPr sz="2000" spc="-8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files</a:t>
            </a:r>
            <a:r>
              <a:rPr sz="2000" spc="-10">
                <a:latin typeface="Arial MT"/>
                <a:cs typeface="Arial MT"/>
              </a:rPr>
              <a:t> (</a:t>
            </a:r>
            <a:r>
              <a:rPr sz="2000" spc="-10" err="1">
                <a:latin typeface="Arial MT"/>
                <a:cs typeface="Arial MT"/>
              </a:rPr>
              <a:t>equifax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global</a:t>
            </a:r>
            <a:r>
              <a:rPr sz="2000" spc="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credit</a:t>
            </a:r>
            <a:r>
              <a:rPr sz="2000" spc="-9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report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Q1</a:t>
            </a:r>
            <a:r>
              <a:rPr sz="2000" spc="-65">
                <a:latin typeface="Arial MT"/>
                <a:cs typeface="Arial MT"/>
              </a:rPr>
              <a:t> </a:t>
            </a:r>
            <a:r>
              <a:rPr sz="2000" spc="-20">
                <a:latin typeface="Arial MT"/>
                <a:cs typeface="Arial MT"/>
              </a:rPr>
              <a:t>2025)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534456-2E23-829D-4C17-DFF9634D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2" y="3566565"/>
            <a:ext cx="7375153" cy="2788959"/>
          </a:xfrm>
          <a:prstGeom prst="rect">
            <a:avLst/>
          </a:prstGeom>
        </p:spPr>
      </p:pic>
      <p:pic>
        <p:nvPicPr>
          <p:cNvPr id="7" name="Picture 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69D570CB-70E8-DDE0-1E76-D85D1776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68" y="973700"/>
            <a:ext cx="6988736" cy="25947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Customer</a:t>
            </a:r>
            <a:r>
              <a:rPr spc="-35"/>
              <a:t> </a:t>
            </a:r>
            <a:r>
              <a:t>Behavior</a:t>
            </a:r>
            <a:r>
              <a:rPr spc="-90"/>
              <a:t> </a:t>
            </a:r>
            <a:r>
              <a:rPr spc="-10"/>
              <a:t>Segments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86641" y="2869857"/>
            <a:ext cx="4000463" cy="1111201"/>
          </a:xfrm>
          <a:prstGeom prst="rect">
            <a:avLst/>
          </a:prstGeom>
        </p:spPr>
        <p:txBody>
          <a:bodyPr vert="horz" wrap="square" lIns="0" tIns="2603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100" b="1" spc="-20">
                <a:latin typeface="Trebuchet MS"/>
                <a:cs typeface="Trebuchet MS"/>
              </a:rPr>
              <a:t>Moderate</a:t>
            </a:r>
            <a:r>
              <a:rPr sz="1100" b="1" spc="-90">
                <a:latin typeface="Trebuchet MS"/>
                <a:cs typeface="Trebuchet MS"/>
              </a:rPr>
              <a:t> </a:t>
            </a:r>
            <a:r>
              <a:rPr sz="1100" b="1" spc="-35">
                <a:latin typeface="Trebuchet MS"/>
                <a:cs typeface="Trebuchet MS"/>
              </a:rPr>
              <a:t>(41%)</a:t>
            </a:r>
            <a:r>
              <a:rPr sz="1100" b="1" spc="-15">
                <a:latin typeface="Trebuchet MS"/>
                <a:cs typeface="Trebuchet MS"/>
              </a:rPr>
              <a:t> </a:t>
            </a:r>
            <a:r>
              <a:rPr sz="1100" spc="215">
                <a:latin typeface="Trebuchet MS"/>
                <a:cs typeface="Trebuchet MS"/>
              </a:rPr>
              <a:t>—</a:t>
            </a:r>
            <a:r>
              <a:rPr sz="1100" spc="-8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balanced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spend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>
                <a:latin typeface="Trebuchet MS"/>
                <a:cs typeface="Trebuchet MS"/>
              </a:rPr>
              <a:t>and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credit</a:t>
            </a:r>
            <a:r>
              <a:rPr sz="1100" spc="-13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health.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>
                <a:latin typeface="Trebuchet MS"/>
                <a:cs typeface="Trebuchet MS"/>
              </a:rPr>
              <a:t>High</a:t>
            </a:r>
            <a:r>
              <a:rPr sz="1100" b="1" spc="-40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Risk</a:t>
            </a:r>
            <a:r>
              <a:rPr sz="1100" b="1" spc="-120">
                <a:latin typeface="Trebuchet MS"/>
                <a:cs typeface="Trebuchet MS"/>
              </a:rPr>
              <a:t> </a:t>
            </a:r>
            <a:r>
              <a:rPr sz="1100" b="1" spc="-20">
                <a:latin typeface="Trebuchet MS"/>
                <a:cs typeface="Trebuchet MS"/>
              </a:rPr>
              <a:t>-</a:t>
            </a:r>
            <a:r>
              <a:rPr sz="1100" b="1" spc="-75">
                <a:latin typeface="Trebuchet MS"/>
                <a:cs typeface="Trebuchet MS"/>
              </a:rPr>
              <a:t> </a:t>
            </a:r>
            <a:r>
              <a:rPr sz="1100" b="1" spc="-25">
                <a:latin typeface="Trebuchet MS"/>
                <a:cs typeface="Trebuchet MS"/>
              </a:rPr>
              <a:t>Low</a:t>
            </a:r>
            <a:r>
              <a:rPr sz="1100" b="1" spc="-95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Spend</a:t>
            </a:r>
            <a:r>
              <a:rPr sz="1100" b="1" spc="-40">
                <a:latin typeface="Trebuchet MS"/>
                <a:cs typeface="Trebuchet MS"/>
              </a:rPr>
              <a:t> </a:t>
            </a:r>
            <a:r>
              <a:rPr sz="1100" b="1" spc="-35">
                <a:latin typeface="Trebuchet MS"/>
                <a:cs typeface="Trebuchet MS"/>
              </a:rPr>
              <a:t>(24%)</a:t>
            </a:r>
            <a:r>
              <a:rPr sz="1100" b="1" spc="-80">
                <a:latin typeface="Trebuchet MS"/>
                <a:cs typeface="Trebuchet MS"/>
              </a:rPr>
              <a:t> </a:t>
            </a:r>
            <a:r>
              <a:rPr sz="1100" spc="215">
                <a:latin typeface="Trebuchet MS"/>
                <a:cs typeface="Trebuchet MS"/>
              </a:rPr>
              <a:t>—</a:t>
            </a:r>
            <a:r>
              <a:rPr sz="1100" spc="-9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minimal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use,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potential</a:t>
            </a:r>
            <a:r>
              <a:rPr sz="1100" spc="-50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drop-</a:t>
            </a:r>
            <a:r>
              <a:rPr sz="1100" spc="-10">
                <a:latin typeface="Trebuchet MS"/>
                <a:cs typeface="Trebuchet MS"/>
              </a:rPr>
              <a:t>offs.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>
                <a:latin typeface="Trebuchet MS"/>
                <a:cs typeface="Trebuchet MS"/>
              </a:rPr>
              <a:t>High</a:t>
            </a:r>
            <a:r>
              <a:rPr sz="1100" b="1" spc="-45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Risk</a:t>
            </a:r>
            <a:r>
              <a:rPr sz="1100" b="1" spc="-125">
                <a:latin typeface="Trebuchet MS"/>
                <a:cs typeface="Trebuchet MS"/>
              </a:rPr>
              <a:t> </a:t>
            </a:r>
            <a:r>
              <a:rPr sz="1100" b="1" spc="-20">
                <a:latin typeface="Trebuchet MS"/>
                <a:cs typeface="Trebuchet MS"/>
              </a:rPr>
              <a:t>-</a:t>
            </a:r>
            <a:r>
              <a:rPr sz="1100" b="1" spc="-80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High</a:t>
            </a:r>
            <a:r>
              <a:rPr sz="1100" b="1" spc="-40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Spend</a:t>
            </a:r>
            <a:r>
              <a:rPr sz="1100" b="1" spc="-50">
                <a:latin typeface="Trebuchet MS"/>
                <a:cs typeface="Trebuchet MS"/>
              </a:rPr>
              <a:t> </a:t>
            </a:r>
            <a:r>
              <a:rPr sz="1100" b="1" spc="-55">
                <a:latin typeface="Trebuchet MS"/>
                <a:cs typeface="Trebuchet MS"/>
              </a:rPr>
              <a:t>(1G%)</a:t>
            </a:r>
            <a:r>
              <a:rPr sz="1100" b="1" spc="-110">
                <a:latin typeface="Trebuchet MS"/>
                <a:cs typeface="Trebuchet MS"/>
              </a:rPr>
              <a:t> </a:t>
            </a:r>
            <a:r>
              <a:rPr sz="1100" spc="215">
                <a:latin typeface="Trebuchet MS"/>
                <a:cs typeface="Trebuchet MS"/>
              </a:rPr>
              <a:t>—</a:t>
            </a:r>
            <a:r>
              <a:rPr sz="1100" spc="-95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active</a:t>
            </a:r>
            <a:r>
              <a:rPr sz="1100" spc="-60">
                <a:latin typeface="Trebuchet MS"/>
                <a:cs typeface="Trebuchet MS"/>
              </a:rPr>
              <a:t> </a:t>
            </a:r>
            <a:r>
              <a:rPr sz="1100" spc="-40">
                <a:latin typeface="Trebuchet MS"/>
                <a:cs typeface="Trebuchet MS"/>
              </a:rPr>
              <a:t>but</a:t>
            </a:r>
            <a:r>
              <a:rPr sz="1100" spc="-55">
                <a:latin typeface="Trebuchet MS"/>
                <a:cs typeface="Trebuchet MS"/>
              </a:rPr>
              <a:t> </a:t>
            </a:r>
            <a:r>
              <a:rPr sz="1100" spc="-35">
                <a:latin typeface="Trebuchet MS"/>
                <a:cs typeface="Trebuchet MS"/>
              </a:rPr>
              <a:t>over-</a:t>
            </a:r>
            <a:r>
              <a:rPr sz="1100" spc="-10">
                <a:latin typeface="Trebuchet MS"/>
                <a:cs typeface="Trebuchet MS"/>
              </a:rPr>
              <a:t>leveraged.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ts val="1260"/>
              </a:lnSpc>
              <a:spcBef>
                <a:spcPts val="105"/>
              </a:spcBef>
            </a:pPr>
            <a:r>
              <a:rPr sz="1100" b="1" spc="-25">
                <a:latin typeface="Trebuchet MS"/>
                <a:cs typeface="Trebuchet MS"/>
              </a:rPr>
              <a:t>Low</a:t>
            </a:r>
            <a:r>
              <a:rPr sz="1100" b="1" spc="-120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Risk</a:t>
            </a:r>
            <a:r>
              <a:rPr sz="1100" b="1" spc="-105">
                <a:latin typeface="Trebuchet MS"/>
                <a:cs typeface="Trebuchet MS"/>
              </a:rPr>
              <a:t> </a:t>
            </a:r>
            <a:r>
              <a:rPr sz="1100" b="1" spc="-20">
                <a:latin typeface="Trebuchet MS"/>
                <a:cs typeface="Trebuchet MS"/>
              </a:rPr>
              <a:t>-</a:t>
            </a:r>
            <a:r>
              <a:rPr sz="1100" b="1" spc="-90">
                <a:latin typeface="Trebuchet MS"/>
                <a:cs typeface="Trebuchet MS"/>
              </a:rPr>
              <a:t> </a:t>
            </a:r>
            <a:r>
              <a:rPr sz="1100" b="1">
                <a:latin typeface="Trebuchet MS"/>
                <a:cs typeface="Trebuchet MS"/>
              </a:rPr>
              <a:t>High</a:t>
            </a:r>
            <a:r>
              <a:rPr sz="1100" b="1" spc="-55">
                <a:latin typeface="Trebuchet MS"/>
                <a:cs typeface="Trebuchet MS"/>
              </a:rPr>
              <a:t> </a:t>
            </a:r>
            <a:r>
              <a:rPr sz="1100" b="1" spc="-10">
                <a:latin typeface="Trebuchet MS"/>
                <a:cs typeface="Trebuchet MS"/>
              </a:rPr>
              <a:t>Value</a:t>
            </a:r>
            <a:r>
              <a:rPr sz="1100" b="1" spc="-110">
                <a:latin typeface="Trebuchet MS"/>
                <a:cs typeface="Trebuchet MS"/>
              </a:rPr>
              <a:t> </a:t>
            </a:r>
            <a:r>
              <a:rPr sz="1100" b="1" spc="-35">
                <a:latin typeface="Trebuchet MS"/>
                <a:cs typeface="Trebuchet MS"/>
              </a:rPr>
              <a:t>(16%)</a:t>
            </a:r>
            <a:r>
              <a:rPr sz="1100" b="1" spc="-90">
                <a:latin typeface="Trebuchet MS"/>
                <a:cs typeface="Trebuchet MS"/>
              </a:rPr>
              <a:t> </a:t>
            </a:r>
            <a:r>
              <a:rPr sz="1100" spc="215">
                <a:latin typeface="Trebuchet MS"/>
                <a:cs typeface="Trebuchet MS"/>
              </a:rPr>
              <a:t>—</a:t>
            </a:r>
            <a:r>
              <a:rPr sz="1100" spc="-110">
                <a:latin typeface="Trebuchet MS"/>
                <a:cs typeface="Trebuchet MS"/>
              </a:rPr>
              <a:t> </a:t>
            </a:r>
            <a:r>
              <a:rPr sz="1100" spc="-30">
                <a:latin typeface="Trebuchet MS"/>
                <a:cs typeface="Trebuchet MS"/>
              </a:rPr>
              <a:t>prime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candidates</a:t>
            </a:r>
            <a:r>
              <a:rPr sz="1100" spc="-20">
                <a:latin typeface="Trebuchet MS"/>
                <a:cs typeface="Trebuchet MS"/>
              </a:rPr>
              <a:t> </a:t>
            </a:r>
            <a:r>
              <a:rPr sz="1100" spc="-60">
                <a:latin typeface="Trebuchet MS"/>
                <a:cs typeface="Trebuchet MS"/>
              </a:rPr>
              <a:t>for</a:t>
            </a:r>
            <a:r>
              <a:rPr sz="1100" spc="-85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graduation.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ts val="1260"/>
              </a:lnSpc>
              <a:spcBef>
                <a:spcPts val="105"/>
              </a:spcBef>
            </a:pPr>
            <a:endParaRPr lang="en-US" sz="1100">
              <a:latin typeface="Trebuchet MS"/>
              <a:cs typeface="Trebuchet MS"/>
            </a:endParaRPr>
          </a:p>
          <a:p>
            <a:pPr marL="12700">
              <a:lnSpc>
                <a:spcPts val="1260"/>
              </a:lnSpc>
              <a:spcBef>
                <a:spcPts val="105"/>
              </a:spcBef>
            </a:pPr>
            <a:r>
              <a:rPr lang="en-US" sz="1100">
                <a:latin typeface="Trebuchet MS"/>
                <a:cs typeface="Trebuchet MS"/>
              </a:rPr>
              <a:t>Allows</a:t>
            </a:r>
            <a:r>
              <a:rPr sz="1100" spc="30">
                <a:latin typeface="Trebuchet MS"/>
                <a:cs typeface="Trebuchet MS"/>
              </a:rPr>
              <a:t> </a:t>
            </a:r>
            <a:r>
              <a:rPr lang="en-US" sz="1100" spc="-20">
                <a:latin typeface="Trebuchet MS"/>
                <a:cs typeface="Trebuchet MS"/>
              </a:rPr>
              <a:t>to</a:t>
            </a:r>
            <a:r>
              <a:rPr sz="1100" spc="-70">
                <a:latin typeface="Trebuchet MS"/>
                <a:cs typeface="Trebuchet MS"/>
              </a:rPr>
              <a:t> </a:t>
            </a:r>
            <a:r>
              <a:rPr sz="1100" spc="-20">
                <a:latin typeface="Trebuchet MS"/>
                <a:cs typeface="Trebuchet MS"/>
              </a:rPr>
              <a:t>personalize</a:t>
            </a:r>
            <a:r>
              <a:rPr sz="1100" spc="-130">
                <a:latin typeface="Trebuchet MS"/>
                <a:cs typeface="Trebuchet MS"/>
              </a:rPr>
              <a:t> </a:t>
            </a:r>
            <a:r>
              <a:rPr sz="1100" spc="-25">
                <a:latin typeface="Trebuchet MS"/>
                <a:cs typeface="Trebuchet MS"/>
              </a:rPr>
              <a:t>engagement</a:t>
            </a:r>
            <a:r>
              <a:rPr sz="1100" spc="-30">
                <a:latin typeface="Trebuchet MS"/>
                <a:cs typeface="Trebuchet MS"/>
              </a:rPr>
              <a:t> </a:t>
            </a:r>
            <a:r>
              <a:rPr sz="1100" spc="-10">
                <a:latin typeface="Trebuchet MS"/>
                <a:cs typeface="Trebuchet MS"/>
              </a:rPr>
              <a:t>strategies.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Picture 4" descr="A group of graphs with numbers and a pie chart&#10;&#10;AI-generated content may be incorrect.">
            <a:extLst>
              <a:ext uri="{FF2B5EF4-FFF2-40B4-BE49-F238E27FC236}">
                <a16:creationId xmlns:a16="http://schemas.microsoft.com/office/drawing/2014/main" id="{6255F323-BF6F-D19B-0FA0-844A854A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6" y="963705"/>
            <a:ext cx="7924834" cy="54012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D47B-7676-4BCE-5011-FE54EB6E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B124CB-3286-F25D-AE9B-8F873EF5FEA5}"/>
              </a:ext>
            </a:extLst>
          </p:cNvPr>
          <p:cNvSpPr txBox="1"/>
          <p:nvPr/>
        </p:nvSpPr>
        <p:spPr>
          <a:xfrm>
            <a:off x="3860131" y="872290"/>
            <a:ext cx="799097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AutoNum type="arabicPeriod"/>
            </a:pPr>
            <a:endParaRPr lang="en-US">
              <a:solidFill>
                <a:srgbClr val="000000"/>
              </a:solidFill>
            </a:endParaRPr>
          </a:p>
          <a:p>
            <a:pPr marL="228600" indent="-228600">
              <a:buFont typeface=""/>
              <a:buAutoNum type="arabicPeriod"/>
            </a:pPr>
            <a:r>
              <a:rPr lang="en-US" b="1"/>
              <a:t>Moderate customers dominate, but risk groups are significant:</a:t>
            </a:r>
            <a:br>
              <a:rPr lang="en-US"/>
            </a:br>
            <a:r>
              <a:rPr lang="en-US"/>
              <a:t>About 46% of accounts fall into the moderate segment, while the rest are spread across </a:t>
            </a:r>
            <a:r>
              <a:rPr lang="en-US" i="1"/>
              <a:t>high-risk low-spend (23.8%)</a:t>
            </a:r>
            <a:r>
              <a:rPr lang="en-US"/>
              <a:t>, </a:t>
            </a:r>
            <a:r>
              <a:rPr lang="en-US" i="1"/>
              <a:t>high-risk high-spend (18.9%)</a:t>
            </a:r>
            <a:r>
              <a:rPr lang="en-US"/>
              <a:t>, and </a:t>
            </a:r>
            <a:r>
              <a:rPr lang="en-US" i="1"/>
              <a:t>low-risk high-value (10.6%)</a:t>
            </a:r>
            <a:r>
              <a:rPr lang="en-US"/>
              <a:t> groups. This reveals that over 40% of customers carry elevated risk traits.</a:t>
            </a:r>
          </a:p>
          <a:p>
            <a:pPr marL="228600" indent="-228600">
              <a:buFont typeface=""/>
              <a:buAutoNum type="arabicPeriod"/>
            </a:pPr>
            <a:r>
              <a:rPr lang="en-US" b="1"/>
              <a:t>Hidden risk among high spenders:</a:t>
            </a:r>
            <a:br>
              <a:rPr lang="en-US"/>
            </a:br>
            <a:r>
              <a:rPr lang="en-US"/>
              <a:t>Even though spending and engagement appear healthy, the overlap between high-risk and high-spend segments suggests that some of the most active customers may also pose financial risk — a key area requiring deeper examination.</a:t>
            </a:r>
          </a:p>
          <a:p>
            <a:pPr marL="228600" indent="-228600">
              <a:buFont typeface=""/>
              <a:buAutoNum type="arabicPeriod"/>
            </a:pPr>
            <a:r>
              <a:rPr lang="en-US" b="1"/>
              <a:t>Engagement ≠ stability:</a:t>
            </a:r>
            <a:br>
              <a:rPr lang="en-US"/>
            </a:br>
            <a:r>
              <a:rPr lang="en-US"/>
              <a:t>High engagement doesn’t necessarily translate to financial stability. Some of the most active users might also have high utilization or inconsistent repayment behavior.</a:t>
            </a:r>
          </a:p>
          <a:p>
            <a:pPr algn="ctr"/>
            <a:endParaRPr lang="en-US"/>
          </a:p>
        </p:txBody>
      </p:sp>
      <p:pic>
        <p:nvPicPr>
          <p:cNvPr id="10" name="Picture 9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FED6C88-9AFA-405D-223B-6C2E4811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9" y="1056164"/>
            <a:ext cx="3003650" cy="3690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24EB58-33EF-277E-EBFD-C26FBECADF50}"/>
              </a:ext>
            </a:extLst>
          </p:cNvPr>
          <p:cNvSpPr txBox="1"/>
          <p:nvPr/>
        </p:nvSpPr>
        <p:spPr>
          <a:xfrm>
            <a:off x="842211" y="1333500"/>
            <a:ext cx="244642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libri"/>
              </a:rPr>
              <a:t>High engagement and spending concentration:</a:t>
            </a:r>
            <a:r>
              <a:rPr lang="en-US" sz="1800" baseline="0">
                <a:latin typeface="Calibri"/>
              </a:rPr>
              <a:t>​</a:t>
            </a:r>
            <a:r>
              <a:rPr sz="1800">
                <a:latin typeface="Calibri"/>
                <a:ea typeface="Calibri"/>
                <a:cs typeface="Calibri"/>
              </a:rPr>
              <a:t>​</a:t>
            </a:r>
            <a:br>
              <a:rPr sz="1800">
                <a:latin typeface="Calibri"/>
                <a:ea typeface="Calibri"/>
                <a:cs typeface="Calibri"/>
              </a:rPr>
            </a:br>
            <a:r>
              <a:rPr lang="en-US" sz="1800" baseline="0">
                <a:latin typeface="Calibri"/>
              </a:rPr>
              <a:t>The majority of accounts show </a:t>
            </a:r>
            <a:r>
              <a:rPr lang="en-US" sz="1800" i="1" baseline="0">
                <a:latin typeface="Calibri"/>
              </a:rPr>
              <a:t>high engagement</a:t>
            </a:r>
            <a:r>
              <a:rPr lang="en-US" sz="1800" baseline="0">
                <a:latin typeface="Calibri"/>
              </a:rPr>
              <a:t> and </a:t>
            </a:r>
            <a:r>
              <a:rPr lang="en-US" sz="1800" i="1" baseline="0">
                <a:latin typeface="Calibri"/>
              </a:rPr>
              <a:t>high spending levels</a:t>
            </a:r>
            <a:r>
              <a:rPr lang="en-US" sz="1800" baseline="0">
                <a:latin typeface="Calibri"/>
              </a:rPr>
              <a:t>, indicating strong overall activity within the portfolio.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60115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High</a:t>
            </a:r>
            <a:r>
              <a:rPr sz="3600" spc="-4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Risk</a:t>
            </a:r>
            <a:r>
              <a:rPr sz="3600" spc="20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Customers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791" y="1931643"/>
            <a:ext cx="4573064" cy="30132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2796" y="2856193"/>
            <a:ext cx="6096000" cy="3099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D9C350-6EAE-360D-70E9-1E0A91A5568F}"/>
              </a:ext>
            </a:extLst>
          </p:cNvPr>
          <p:cNvSpPr txBox="1"/>
          <p:nvPr/>
        </p:nvSpPr>
        <p:spPr>
          <a:xfrm>
            <a:off x="627529" y="4818529"/>
            <a:ext cx="3664323" cy="9637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F9760-B7C2-1EF4-D61F-D9BC2C71FAAA}"/>
              </a:ext>
            </a:extLst>
          </p:cNvPr>
          <p:cNvSpPr txBox="1"/>
          <p:nvPr/>
        </p:nvSpPr>
        <p:spPr>
          <a:xfrm>
            <a:off x="380999" y="1340970"/>
            <a:ext cx="49679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GenZ</a:t>
            </a:r>
            <a:r>
              <a:rPr lang="en-US"/>
              <a:t> and GenX dominate high risk accounts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23DFD-6C37-88C4-B9AE-81508B530E6A}"/>
              </a:ext>
            </a:extLst>
          </p:cNvPr>
          <p:cNvSpPr txBox="1"/>
          <p:nvPr/>
        </p:nvSpPr>
        <p:spPr>
          <a:xfrm>
            <a:off x="5782234" y="1931145"/>
            <a:ext cx="58569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Risk Flow shows many accounts above the high-risk threshold, long tail persists.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27AA5-599F-B918-88CA-B410F130E404}"/>
              </a:ext>
            </a:extLst>
          </p:cNvPr>
          <p:cNvSpPr txBox="1"/>
          <p:nvPr/>
        </p:nvSpPr>
        <p:spPr>
          <a:xfrm>
            <a:off x="291352" y="6152028"/>
            <a:ext cx="92112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/>
              <a:t>Focus:</a:t>
            </a:r>
            <a:r>
              <a:rPr lang="en-US"/>
              <a:t> Utilization Control, CLI Placing and security/education for younger segments</a:t>
            </a: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015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High</a:t>
            </a:r>
            <a:r>
              <a:rPr sz="3600" spc="-4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Risk</a:t>
            </a:r>
            <a:r>
              <a:rPr sz="3600" spc="25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Behaviors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19" y="1286332"/>
            <a:ext cx="7923604" cy="5561815"/>
          </a:xfrm>
          <a:prstGeom prst="rect">
            <a:avLst/>
          </a:prstGeom>
        </p:spPr>
      </p:pic>
      <p:pic>
        <p:nvPicPr>
          <p:cNvPr id="4" name="Picture 3" descr="A close-up of a key insights&#10;&#10;AI-generated content may be incorrect.">
            <a:extLst>
              <a:ext uri="{FF2B5EF4-FFF2-40B4-BE49-F238E27FC236}">
                <a16:creationId xmlns:a16="http://schemas.microsoft.com/office/drawing/2014/main" id="{47EBBCA2-F7F6-A093-6A3B-EF3711896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012" y="1270000"/>
            <a:ext cx="3107684" cy="48782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Data</a:t>
            </a:r>
            <a:r>
              <a:rPr spc="-95"/>
              <a:t> </a:t>
            </a:r>
            <a:r>
              <a:t>Driven</a:t>
            </a:r>
            <a:r>
              <a:rPr spc="-85"/>
              <a:t> </a:t>
            </a:r>
            <a:r>
              <a:rPr spc="-10"/>
              <a:t>Predictions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1625980"/>
            <a:ext cx="1248410" cy="58674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0">
                <a:latin typeface="Arial"/>
                <a:cs typeface="Arial MT"/>
              </a:rPr>
              <a:t>Goals</a:t>
            </a:r>
            <a:endParaRPr sz="3650">
              <a:latin typeface="Arial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75" y="2201862"/>
            <a:ext cx="7451090" cy="7505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50"/>
              </a:spcBef>
              <a:buChar char="•"/>
              <a:tabLst>
                <a:tab pos="469265" algn="l"/>
              </a:tabLst>
            </a:pPr>
            <a:r>
              <a:rPr sz="2000">
                <a:latin typeface="Arial MT"/>
                <a:cs typeface="Arial MT"/>
              </a:rPr>
              <a:t>Which</a:t>
            </a:r>
            <a:r>
              <a:rPr sz="2000" spc="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customers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are</a:t>
            </a:r>
            <a:r>
              <a:rPr sz="2000" spc="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likely</a:t>
            </a:r>
            <a:r>
              <a:rPr sz="2000" spc="-9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to</a:t>
            </a:r>
            <a:r>
              <a:rPr sz="2000" spc="-50">
                <a:latin typeface="Arial MT"/>
                <a:cs typeface="Arial MT"/>
              </a:rPr>
              <a:t> </a:t>
            </a:r>
            <a:r>
              <a:rPr sz="2000" b="1">
                <a:latin typeface="Arial"/>
                <a:cs typeface="Arial"/>
              </a:rPr>
              <a:t>improve</a:t>
            </a:r>
            <a:r>
              <a:rPr sz="2000" b="1" spc="-5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their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FICO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score</a:t>
            </a:r>
            <a:r>
              <a:rPr sz="2000">
                <a:latin typeface="Arial MT"/>
                <a:cs typeface="Arial MT"/>
              </a:rPr>
              <a:t>,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-25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Char char="•"/>
              <a:tabLst>
                <a:tab pos="469265" algn="l"/>
              </a:tabLst>
            </a:pPr>
            <a:r>
              <a:rPr sz="2000">
                <a:latin typeface="Arial MT"/>
                <a:cs typeface="Arial MT"/>
              </a:rPr>
              <a:t>Which</a:t>
            </a:r>
            <a:r>
              <a:rPr sz="2000" spc="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customers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are</a:t>
            </a:r>
            <a:r>
              <a:rPr sz="2000" spc="2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likely</a:t>
            </a:r>
            <a:r>
              <a:rPr sz="2000" spc="-9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to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b="1">
                <a:latin typeface="Arial"/>
                <a:cs typeface="Arial"/>
              </a:rPr>
              <a:t>churn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or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become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inactive.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t>Model</a:t>
            </a:r>
            <a:r>
              <a:rPr spc="-100"/>
              <a:t> </a:t>
            </a:r>
            <a:r>
              <a:t>used</a:t>
            </a:r>
            <a:r>
              <a:rPr spc="-30"/>
              <a:t> </a:t>
            </a:r>
            <a:r>
              <a:t>to</a:t>
            </a:r>
            <a:r>
              <a:rPr spc="-90"/>
              <a:t> </a:t>
            </a:r>
            <a:r>
              <a:t>predict</a:t>
            </a:r>
            <a:r>
              <a:rPr spc="-105"/>
              <a:t> </a:t>
            </a:r>
            <a:r>
              <a:t>credit</a:t>
            </a:r>
            <a:r>
              <a:rPr spc="-95"/>
              <a:t> </a:t>
            </a:r>
            <a:r>
              <a:rPr spc="-10"/>
              <a:t>improvement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30B3F-B432-F705-E149-CB00CEA02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40" y="1328778"/>
            <a:ext cx="7296150" cy="4810858"/>
          </a:xfrm>
          <a:prstGeom prst="rect">
            <a:avLst/>
          </a:prstGeom>
        </p:spPr>
      </p:pic>
      <p:pic>
        <p:nvPicPr>
          <p:cNvPr id="9" name="Picture 8" descr="A black and white image of numbers&#10;&#10;AI-generated content may be incorrect.">
            <a:extLst>
              <a:ext uri="{FF2B5EF4-FFF2-40B4-BE49-F238E27FC236}">
                <a16:creationId xmlns:a16="http://schemas.microsoft.com/office/drawing/2014/main" id="{9E33FB47-B28C-B4B8-BA1B-9315EF5C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559" y="1339361"/>
            <a:ext cx="4717116" cy="1436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D4FD3-1AB1-EE23-5373-CF4EF054A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798" y="2824442"/>
            <a:ext cx="5622551" cy="33158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3234" y="289305"/>
            <a:ext cx="10593705" cy="570669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600"/>
              <a:t>Predicted</a:t>
            </a:r>
            <a:r>
              <a:rPr lang="en-US" sz="3600" spc="-5"/>
              <a:t> </a:t>
            </a:r>
            <a:r>
              <a:rPr lang="en-US" sz="3600"/>
              <a:t>improvement</a:t>
            </a:r>
            <a:r>
              <a:rPr lang="en-US" sz="3600" spc="-70"/>
              <a:t> </a:t>
            </a:r>
            <a:r>
              <a:rPr lang="en-US" sz="3600"/>
              <a:t>by</a:t>
            </a:r>
            <a:r>
              <a:rPr lang="en-US" sz="3600" spc="-50"/>
              <a:t> </a:t>
            </a:r>
            <a:r>
              <a:rPr lang="en-US" sz="3600" spc="-10"/>
              <a:t>generation and state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7388C-8908-B9AB-E5EA-6ACA38FE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84" y="972649"/>
            <a:ext cx="4660485" cy="3472486"/>
          </a:xfrm>
          <a:prstGeom prst="rect">
            <a:avLst/>
          </a:prstGeom>
        </p:spPr>
      </p:pic>
      <p:pic>
        <p:nvPicPr>
          <p:cNvPr id="6" name="Picture 5" descr="A graph of a credit improvement&#10;&#10;AI-generated content may be incorrect.">
            <a:extLst>
              <a:ext uri="{FF2B5EF4-FFF2-40B4-BE49-F238E27FC236}">
                <a16:creationId xmlns:a16="http://schemas.microsoft.com/office/drawing/2014/main" id="{36B2DFD1-A4D5-4B20-543E-B8858C743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949" y="974806"/>
            <a:ext cx="6494585" cy="4601308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B8AC3CB6-9F72-30CE-06C6-EBF81F9B38BD}"/>
              </a:ext>
            </a:extLst>
          </p:cNvPr>
          <p:cNvSpPr txBox="1"/>
          <p:nvPr/>
        </p:nvSpPr>
        <p:spPr>
          <a:xfrm>
            <a:off x="1439009" y="4572517"/>
            <a:ext cx="3664325" cy="13542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r>
              <a:rPr lang="en-US" sz="1600"/>
              <a:t>TN and AK have the highest predicted credit improvement (~0.99), followed by VA and NH (~0.98), signaling a meaningful geographic lift</a:t>
            </a:r>
            <a:endParaRPr lang="en-US" sz="1600">
              <a:solidFill>
                <a:srgbClr val="000000"/>
              </a:solidFill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362" y="6376987"/>
            <a:ext cx="8961755" cy="0"/>
          </a:xfrm>
          <a:custGeom>
            <a:avLst/>
            <a:gdLst/>
            <a:ahLst/>
            <a:cxnLst/>
            <a:rect l="l" t="t" r="r" b="b"/>
            <a:pathLst>
              <a:path w="8961755">
                <a:moveTo>
                  <a:pt x="896118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62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110" y="6146398"/>
            <a:ext cx="1436290" cy="4550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3234" y="289305"/>
            <a:ext cx="10593705" cy="1001556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sz="3200"/>
              <a:t>Predicted improvement,</a:t>
            </a:r>
            <a:r>
              <a:rPr sz="3200" spc="-70"/>
              <a:t> </a:t>
            </a:r>
            <a:r>
              <a:rPr sz="3200"/>
              <a:t>by</a:t>
            </a:r>
            <a:r>
              <a:rPr sz="3200" spc="-55"/>
              <a:t> </a:t>
            </a:r>
            <a:r>
              <a:rPr sz="3200"/>
              <a:t>monthly</a:t>
            </a:r>
            <a:r>
              <a:rPr sz="3200" spc="-45"/>
              <a:t> </a:t>
            </a:r>
            <a:r>
              <a:rPr sz="3200" spc="-10"/>
              <a:t>income</a:t>
            </a:r>
            <a:r>
              <a:rPr lang="en-US" sz="3200" spc="-10"/>
              <a:t> and credit utilization</a:t>
            </a:r>
            <a:endParaRPr sz="3200" spc="-10"/>
          </a:p>
        </p:txBody>
      </p:sp>
      <p:pic>
        <p:nvPicPr>
          <p:cNvPr id="5" name="Picture 4" descr="A graph of credit improvement&#10;&#10;AI-generated content may be incorrect.">
            <a:extLst>
              <a:ext uri="{FF2B5EF4-FFF2-40B4-BE49-F238E27FC236}">
                <a16:creationId xmlns:a16="http://schemas.microsoft.com/office/drawing/2014/main" id="{9E097201-CFC8-3D0C-1110-7BB66EEB2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0" y="970668"/>
            <a:ext cx="5674230" cy="4132425"/>
          </a:xfrm>
          <a:prstGeom prst="rect">
            <a:avLst/>
          </a:prstGeom>
        </p:spPr>
      </p:pic>
      <p:pic>
        <p:nvPicPr>
          <p:cNvPr id="6" name="Picture 5" descr="A graph with text on it&#10;&#10;AI-generated content may be incorrect.">
            <a:extLst>
              <a:ext uri="{FF2B5EF4-FFF2-40B4-BE49-F238E27FC236}">
                <a16:creationId xmlns:a16="http://schemas.microsoft.com/office/drawing/2014/main" id="{97073000-72C5-AAE6-4C39-0AAED6C0F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595" y="970817"/>
            <a:ext cx="5791934" cy="4388828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6562119C-4AA5-B3FE-63A1-00684C3056F2}"/>
              </a:ext>
            </a:extLst>
          </p:cNvPr>
          <p:cNvSpPr txBox="1"/>
          <p:nvPr/>
        </p:nvSpPr>
        <p:spPr>
          <a:xfrm>
            <a:off x="3319259" y="5354511"/>
            <a:ext cx="4360745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1600"/>
              <a:t>Utilization calculated as: </a:t>
            </a:r>
            <a:br>
              <a:rPr lang="en-US" sz="1600"/>
            </a:br>
            <a:r>
              <a:rPr lang="en-US" sz="1600"/>
              <a:t>END_OF_MTH_BALANCE/CREDIT_LMT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9080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Who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may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become</a:t>
            </a:r>
            <a:r>
              <a:rPr sz="3600" spc="-20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inactive?</a:t>
            </a:r>
            <a:endParaRPr sz="3600"/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5DE112B3-0956-5316-CFB3-4BDD54A5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1" y="1221095"/>
            <a:ext cx="6079982" cy="50220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E8EE6E-03C0-25E4-809F-EE5886F521FB}"/>
              </a:ext>
            </a:extLst>
          </p:cNvPr>
          <p:cNvCxnSpPr/>
          <p:nvPr/>
        </p:nvCxnSpPr>
        <p:spPr>
          <a:xfrm flipH="1">
            <a:off x="5961227" y="1243853"/>
            <a:ext cx="4036" cy="559173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4A4DF690-03DF-D08A-D28C-142594F3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637" y="4372076"/>
            <a:ext cx="2018192" cy="247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77447-4427-42EE-0F61-EC7A89E63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49" y="1222560"/>
            <a:ext cx="6093760" cy="44464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9080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Who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may</a:t>
            </a:r>
            <a:r>
              <a:rPr sz="3600" spc="-35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become</a:t>
            </a:r>
            <a:r>
              <a:rPr sz="3600" spc="-20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inactive?</a:t>
            </a:r>
            <a:endParaRPr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D955B-7D50-C30C-A3A5-A6A2959B6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941"/>
            <a:ext cx="6538092" cy="4434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EB8354-E385-F173-369A-5C105F7F1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645" y="1155823"/>
            <a:ext cx="6131542" cy="44259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5BAF61-1BC6-608C-7AD9-7E67D90DAE5A}"/>
              </a:ext>
            </a:extLst>
          </p:cNvPr>
          <p:cNvCxnSpPr/>
          <p:nvPr/>
        </p:nvCxnSpPr>
        <p:spPr>
          <a:xfrm>
            <a:off x="6166970" y="1157941"/>
            <a:ext cx="20467" cy="501649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AB50D11D-E511-2962-41C4-C860AD840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88" y="5752507"/>
            <a:ext cx="9233648" cy="8438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30"/>
              </a:spcBef>
            </a:pPr>
            <a:r>
              <a:rPr sz="3950"/>
              <a:t>Predictive</a:t>
            </a:r>
            <a:r>
              <a:rPr sz="3950" spc="60"/>
              <a:t> </a:t>
            </a:r>
            <a:r>
              <a:rPr sz="3950"/>
              <a:t>Insights</a:t>
            </a:r>
            <a:r>
              <a:rPr sz="3950" spc="135"/>
              <a:t> </a:t>
            </a:r>
            <a:r>
              <a:rPr sz="3950" spc="-10"/>
              <a:t>Summary</a:t>
            </a:r>
            <a:endParaRPr sz="39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827425"/>
              </p:ext>
            </p:extLst>
          </p:nvPr>
        </p:nvGraphicFramePr>
        <p:xfrm>
          <a:off x="634482" y="1080769"/>
          <a:ext cx="10725187" cy="49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7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4">
                <a:tc>
                  <a:txBody>
                    <a:bodyPr/>
                    <a:lstStyle/>
                    <a:p>
                      <a:pPr marL="813435">
                        <a:lnSpc>
                          <a:spcPts val="2140"/>
                        </a:lnSpc>
                      </a:pPr>
                      <a:r>
                        <a:rPr sz="20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Insight</a:t>
                      </a:r>
                      <a:endParaRPr sz="2000">
                        <a:latin typeface="Arial MT"/>
                        <a:cs typeface="Trebuchet MS"/>
                      </a:endParaRPr>
                    </a:p>
                  </a:txBody>
                  <a:tcPr marL="0" marR="0" marT="0" marB="0">
                    <a:lnT w="19050">
                      <a:solidFill>
                        <a:srgbClr val="8F9A9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0840" algn="ctr">
                        <a:lnSpc>
                          <a:spcPts val="2140"/>
                        </a:lnSpc>
                      </a:pPr>
                      <a:r>
                        <a:rPr lang="en-US" sz="2000" b="1" spc="-5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Key</a:t>
                      </a:r>
                      <a:r>
                        <a:rPr lang="en-US" sz="2000" b="1" spc="-24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lang="en-US" sz="20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Findings</a:t>
                      </a:r>
                      <a:endParaRPr lang="en-US" sz="2000">
                        <a:latin typeface="Arial MT"/>
                        <a:cs typeface="Trebuchet MS"/>
                      </a:endParaRPr>
                    </a:p>
                  </a:txBody>
                  <a:tcPr marL="0" marR="0" marT="0" marB="0">
                    <a:lnT w="19050">
                      <a:solidFill>
                        <a:srgbClr val="8F9A9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3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Credit</a:t>
                      </a:r>
                      <a:r>
                        <a:rPr sz="1400" b="1" spc="-55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Builders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2384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97840" lvl="0">
                        <a:lnSpc>
                          <a:spcPct val="100000"/>
                        </a:lnSpc>
                        <a:spcBef>
                          <a:spcPts val="254"/>
                        </a:spcBef>
                        <a:buNone/>
                      </a:pPr>
                      <a:r>
                        <a:rPr lang="en-US" sz="1400" b="0" i="0" u="none" strike="noStrike" spc="-10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Younger customers (Gen Z, Millennials) show strong credit improvement potential but higher churn risk</a:t>
                      </a:r>
                      <a:endParaRPr>
                        <a:latin typeface="Arial MT"/>
                      </a:endParaRPr>
                    </a:p>
                  </a:txBody>
                  <a:tcPr marL="0" marR="0" marT="32384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Churn</a:t>
                      </a:r>
                      <a:r>
                        <a:rPr sz="1400" b="1" spc="-204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2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Risk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365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97840" lvl="0">
                        <a:lnSpc>
                          <a:spcPts val="1555"/>
                        </a:lnSpc>
                        <a:spcBef>
                          <a:spcPts val="265"/>
                        </a:spcBef>
                        <a:buNone/>
                      </a:pPr>
                      <a:r>
                        <a:rPr lang="en-US" sz="1400" b="0" i="0" u="none" strike="noStrike" spc="-35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Silent Gen and Gen Z have the highest churn;</a:t>
                      </a:r>
                      <a:br>
                        <a:rPr lang="en-US" sz="1400" b="0" i="0" u="none" strike="noStrike" spc="-35" baseline="0" noProof="0">
                          <a:solidFill>
                            <a:srgbClr val="404040"/>
                          </a:solidFill>
                          <a:latin typeface="Arial MT"/>
                        </a:rPr>
                      </a:br>
                      <a:r>
                        <a:rPr lang="en-US" sz="1400" b="0" i="0" u="none" strike="noStrike" spc="-35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Boomers are most stable</a:t>
                      </a:r>
                    </a:p>
                  </a:txBody>
                  <a:tcPr marL="0" marR="0" marT="3365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Spending</a:t>
                      </a:r>
                      <a:r>
                        <a:rPr sz="1400" b="1" spc="-85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Stability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429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97840" lvl="0">
                        <a:lnSpc>
                          <a:spcPts val="1550"/>
                        </a:lnSpc>
                        <a:spcBef>
                          <a:spcPts val="270"/>
                        </a:spcBef>
                        <a:buNone/>
                      </a:pPr>
                      <a:r>
                        <a:rPr lang="en-US" sz="1400" b="0" i="0" u="none" strike="noStrike" spc="-20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Automotive, entertainment, and travel users churn most</a:t>
                      </a:r>
                      <a:endParaRPr lang="en-US">
                        <a:latin typeface="Arial MT"/>
                      </a:endParaRPr>
                    </a:p>
                  </a:txBody>
                  <a:tcPr marL="0" marR="0" marT="3429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High</a:t>
                      </a:r>
                      <a:r>
                        <a:rPr sz="1400" b="1" spc="-12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Utilization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556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97840" lvl="0">
                        <a:lnSpc>
                          <a:spcPts val="1550"/>
                        </a:lnSpc>
                        <a:spcBef>
                          <a:spcPts val="280"/>
                        </a:spcBef>
                        <a:buNone/>
                      </a:pPr>
                      <a:r>
                        <a:rPr lang="en-US" sz="1400" b="0" i="0" u="none" strike="noStrike" spc="-20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Low-utilization users churn more; high-utilization users stay but face higher balance stress.</a:t>
                      </a:r>
                    </a:p>
                  </a:txBody>
                  <a:tcPr marL="0" marR="0" marT="3556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Regional</a:t>
                      </a:r>
                      <a:r>
                        <a:rPr sz="1400" b="1" spc="-165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Trends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97840" lvl="0">
                        <a:lnSpc>
                          <a:spcPct val="100000"/>
                        </a:lnSpc>
                        <a:spcBef>
                          <a:spcPts val="285"/>
                        </a:spcBef>
                        <a:buNone/>
                      </a:pPr>
                      <a:r>
                        <a:rPr lang="en-US" sz="1400" b="0" i="0" u="none" strike="noStrike" spc="-10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Churn peaks in Alabama, Delaware, and South Dakota, while Tennessee, Alaska, and Virginia show strong improvement potential.</a:t>
                      </a:r>
                      <a:endParaRPr/>
                    </a:p>
                  </a:txBody>
                  <a:tcPr marL="0" marR="0" marT="3619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-45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Feature</a:t>
                      </a:r>
                      <a:r>
                        <a:rPr sz="1400" b="1" spc="-1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 </a:t>
                      </a:r>
                      <a:r>
                        <a:rPr sz="1400" b="1" spc="-10">
                          <a:solidFill>
                            <a:srgbClr val="404040"/>
                          </a:solidFill>
                          <a:latin typeface="Arial MT"/>
                          <a:cs typeface="Trebuchet MS"/>
                        </a:rPr>
                        <a:t>Drivers</a:t>
                      </a:r>
                      <a:endParaRPr sz="1400">
                        <a:latin typeface="Arial MT"/>
                        <a:cs typeface="Trebuchet MS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97840" marR="298450" lvl="0">
                        <a:lnSpc>
                          <a:spcPts val="1430"/>
                        </a:lnSpc>
                        <a:spcBef>
                          <a:spcPts val="550"/>
                        </a:spcBef>
                        <a:buNone/>
                      </a:pPr>
                      <a:r>
                        <a:rPr lang="en-US" sz="1400" b="0" i="0" u="none" strike="noStrike" spc="-10" baseline="0" noProof="0">
                          <a:solidFill>
                            <a:srgbClr val="404040"/>
                          </a:solidFill>
                          <a:latin typeface="Arial MT"/>
                        </a:rPr>
                        <a:t>Behavioral factors (spend change, credit limit, transaction frequency) drive improvement</a:t>
                      </a:r>
                      <a:endParaRPr>
                        <a:latin typeface="Arial MT"/>
                      </a:endParaRPr>
                    </a:p>
                  </a:txBody>
                  <a:tcPr marL="0" marR="0" marT="6985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D7CA-23D5-395E-4DEA-2437FFBD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34" y="289305"/>
            <a:ext cx="10593705" cy="61555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4000"/>
              <a:t>Opportunities &amp; Strategic Actions:</a:t>
            </a:r>
            <a:endParaRPr lang="en-US"/>
          </a:p>
        </p:txBody>
      </p:sp>
      <p:pic>
        <p:nvPicPr>
          <p:cNvPr id="7" name="Picture 6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A2C33ED-7B78-CB3F-3260-378552510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00" y="1206558"/>
            <a:ext cx="3003650" cy="4703022"/>
          </a:xfrm>
          <a:prstGeom prst="rect">
            <a:avLst/>
          </a:prstGeom>
        </p:spPr>
      </p:pic>
      <p:pic>
        <p:nvPicPr>
          <p:cNvPr id="8" name="Picture 7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3E8B3631-33E9-3CAB-AEB1-21ED5A48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46" y="1206558"/>
            <a:ext cx="3267429" cy="4703022"/>
          </a:xfrm>
          <a:prstGeom prst="rect">
            <a:avLst/>
          </a:prstGeom>
        </p:spPr>
      </p:pic>
      <p:pic>
        <p:nvPicPr>
          <p:cNvPr id="9" name="Picture 8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42529BF1-C6CF-BFA1-098E-933862091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29" y="1206557"/>
            <a:ext cx="3103307" cy="4703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B5BCD8-55BB-2D53-92AE-2D39A2E3D6C2}"/>
              </a:ext>
            </a:extLst>
          </p:cNvPr>
          <p:cNvSpPr txBox="1"/>
          <p:nvPr/>
        </p:nvSpPr>
        <p:spPr>
          <a:xfrm>
            <a:off x="990370" y="1366658"/>
            <a:ext cx="28135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200" b="1" kern="1200">
                <a:solidFill>
                  <a:srgbClr val="1E1E1E"/>
                </a:solidFill>
                <a:latin typeface="Calibri"/>
                <a:ea typeface="+mn-ea"/>
                <a:cs typeface="+mn-cs"/>
              </a:rPr>
              <a:t>Credit Line &amp; Risk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AC6A44-A25C-F309-93D8-609A77461882}"/>
              </a:ext>
            </a:extLst>
          </p:cNvPr>
          <p:cNvSpPr txBox="1"/>
          <p:nvPr/>
        </p:nvSpPr>
        <p:spPr>
          <a:xfrm>
            <a:off x="5020236" y="1366658"/>
            <a:ext cx="248023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200" b="1" kern="1200">
                <a:solidFill>
                  <a:srgbClr val="1E1E1E"/>
                </a:solidFill>
                <a:latin typeface="Calibri"/>
                <a:ea typeface="+mn-ea"/>
                <a:cs typeface="+mn-cs"/>
              </a:rPr>
              <a:t>Product &amp; Rewards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62CC37-7745-DF55-00E7-5E0D2A299913}"/>
              </a:ext>
            </a:extLst>
          </p:cNvPr>
          <p:cNvSpPr txBox="1"/>
          <p:nvPr/>
        </p:nvSpPr>
        <p:spPr>
          <a:xfrm>
            <a:off x="8791377" y="1366657"/>
            <a:ext cx="294341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2200" b="1" kern="1200">
                <a:solidFill>
                  <a:srgbClr val="1E1E1E"/>
                </a:solidFill>
                <a:latin typeface="Calibri"/>
                <a:ea typeface="+mn-ea"/>
                <a:cs typeface="+mn-cs"/>
              </a:rPr>
              <a:t>Growth &amp; Reactivation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B8F8B4-DE72-744E-B250-9D73ED3C6DA0}"/>
              </a:ext>
            </a:extLst>
          </p:cNvPr>
          <p:cNvSpPr txBox="1"/>
          <p:nvPr/>
        </p:nvSpPr>
        <p:spPr>
          <a:xfrm>
            <a:off x="987841" y="1876325"/>
            <a:ext cx="276457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/>
              <a:t>Launch gamified “Credit Boost” programs</a:t>
            </a:r>
            <a:r>
              <a:rPr lang="en-US" sz="1400"/>
              <a:t> to strengthen credit growth and engagement</a:t>
            </a:r>
          </a:p>
          <a:p>
            <a:pPr algn="l"/>
            <a:endParaRPr lang="en-US" sz="1400" b="1"/>
          </a:p>
          <a:p>
            <a:pPr algn="l"/>
            <a:r>
              <a:rPr lang="en-US" sz="1400" b="1"/>
              <a:t>Apply age-specific retention tactics</a:t>
            </a:r>
            <a:r>
              <a:rPr lang="en-US" sz="1400"/>
              <a:t> (digital nudges for younger customers, simplified communication for older ones)</a:t>
            </a:r>
          </a:p>
          <a:p>
            <a:pPr algn="l"/>
            <a:endParaRPr lang="en-US" sz="1400"/>
          </a:p>
          <a:p>
            <a:pPr algn="l"/>
            <a:r>
              <a:rPr lang="en-US" sz="1400" b="1"/>
              <a:t>Enable real-time behavioral monitoring</a:t>
            </a:r>
            <a:r>
              <a:rPr lang="en-US" sz="1400"/>
              <a:t> to detect utilization or risk changes early</a:t>
            </a:r>
          </a:p>
          <a:p>
            <a:pPr algn="l"/>
            <a:endParaRPr lang="en-US" sz="1400"/>
          </a:p>
          <a:p>
            <a:pPr algn="l"/>
            <a:r>
              <a:rPr lang="en-US" sz="1400" b="1"/>
              <a:t>Use predictive alerts</a:t>
            </a:r>
            <a:r>
              <a:rPr lang="en-US" sz="1400"/>
              <a:t> to guide credit-line adjustments and repayment outreach before balances reach risk thresholds</a:t>
            </a:r>
            <a:r>
              <a:rPr lang="en-US" sz="1600"/>
              <a:t>.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C0AF5-3D89-DE24-7657-FC7F1C0D783F}"/>
              </a:ext>
            </a:extLst>
          </p:cNvPr>
          <p:cNvSpPr txBox="1"/>
          <p:nvPr/>
        </p:nvSpPr>
        <p:spPr>
          <a:xfrm>
            <a:off x="4999662" y="1871440"/>
            <a:ext cx="2692976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/>
              <a:t>Strengthen everyday-spend rewards</a:t>
            </a:r>
            <a:r>
              <a:rPr lang="en-US" sz="1400"/>
              <a:t> (Grocery, Gas, Dining) to encourage consistent card usage.</a:t>
            </a:r>
          </a:p>
          <a:p>
            <a:pPr algn="l"/>
            <a:br>
              <a:rPr lang="en-US" sz="1400"/>
            </a:br>
            <a:r>
              <a:rPr lang="en-US" sz="1400" b="1"/>
              <a:t>Introduce cashback or spend-based incentives</a:t>
            </a:r>
            <a:r>
              <a:rPr lang="en-US" sz="1400"/>
              <a:t> to promote responsible credit use and reduce low-utilization churn.</a:t>
            </a:r>
          </a:p>
          <a:p>
            <a:pPr algn="l"/>
            <a:br>
              <a:rPr lang="en-US" sz="1400"/>
            </a:br>
            <a:r>
              <a:rPr lang="en-US" sz="1400" b="1"/>
              <a:t>Design tiered rewards and credit-growth paths</a:t>
            </a:r>
            <a:r>
              <a:rPr lang="en-US" sz="1400"/>
              <a:t> that transition customers from building to unsecured products as their credit improves.</a:t>
            </a:r>
            <a:endParaRPr lang="en-US" sz="1400">
              <a:solidFill>
                <a:srgbClr val="000000"/>
              </a:solidFill>
            </a:endParaRPr>
          </a:p>
          <a:p>
            <a:endParaRPr lang="en-US" sz="1600">
              <a:latin typeface="Calibri"/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76D5B-33D6-A556-A442-5431FC0B43AD}"/>
              </a:ext>
            </a:extLst>
          </p:cNvPr>
          <p:cNvSpPr txBox="1"/>
          <p:nvPr/>
        </p:nvSpPr>
        <p:spPr>
          <a:xfrm>
            <a:off x="8904423" y="1876325"/>
            <a:ext cx="2581608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/>
              <a:t>Launch regional offers and education campaigns</a:t>
            </a:r>
            <a:r>
              <a:rPr lang="en-US" sz="1400"/>
              <a:t> in high-churn states (AL, DE, SD).</a:t>
            </a:r>
          </a:p>
          <a:p>
            <a:pPr algn="l"/>
            <a:endParaRPr lang="en-US" sz="1400"/>
          </a:p>
          <a:p>
            <a:pPr algn="l"/>
            <a:r>
              <a:rPr lang="en-US" sz="1400" b="1"/>
              <a:t>Expand reactivation efforts</a:t>
            </a:r>
            <a:r>
              <a:rPr lang="en-US" sz="1400"/>
              <a:t> in high-potential markets (TN, AK, VA) and leverage digital onboarding in GA, MT, WI.</a:t>
            </a:r>
          </a:p>
          <a:p>
            <a:pPr algn="l"/>
            <a:endParaRPr lang="en-US" sz="1400"/>
          </a:p>
          <a:p>
            <a:pPr algn="l"/>
            <a:r>
              <a:rPr lang="en-US" sz="1400" b="1"/>
              <a:t>Implement graduation campaigns</a:t>
            </a:r>
            <a:r>
              <a:rPr lang="en-US" sz="1400"/>
              <a:t> for dormant or maturing accounts to re-engage customers and boost portfolio health.</a:t>
            </a:r>
          </a:p>
        </p:txBody>
      </p:sp>
    </p:spTree>
    <p:extLst>
      <p:ext uri="{BB962C8B-B14F-4D97-AF65-F5344CB8AC3E}">
        <p14:creationId xmlns:p14="http://schemas.microsoft.com/office/powerpoint/2010/main" val="1314726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2096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448925" y="6228894"/>
            <a:ext cx="430530" cy="429895"/>
          </a:xfrm>
          <a:custGeom>
            <a:avLst/>
            <a:gdLst/>
            <a:ahLst/>
            <a:cxnLst/>
            <a:rect l="l" t="t" r="r" b="b"/>
            <a:pathLst>
              <a:path w="430529" h="429895">
                <a:moveTo>
                  <a:pt x="214888" y="0"/>
                </a:moveTo>
                <a:lnTo>
                  <a:pt x="165627" y="5638"/>
                </a:lnTo>
                <a:lnTo>
                  <a:pt x="120401" y="21704"/>
                </a:lnTo>
                <a:lnTo>
                  <a:pt x="80501" y="46926"/>
                </a:lnTo>
                <a:lnTo>
                  <a:pt x="47219" y="80032"/>
                </a:lnTo>
                <a:lnTo>
                  <a:pt x="21847" y="119750"/>
                </a:lnTo>
                <a:lnTo>
                  <a:pt x="5677" y="164807"/>
                </a:lnTo>
                <a:lnTo>
                  <a:pt x="0" y="213932"/>
                </a:lnTo>
                <a:lnTo>
                  <a:pt x="5677" y="263283"/>
                </a:lnTo>
                <a:lnTo>
                  <a:pt x="21847" y="308601"/>
                </a:lnTo>
                <a:lnTo>
                  <a:pt x="47219" y="348589"/>
                </a:lnTo>
                <a:lnTo>
                  <a:pt x="80501" y="381948"/>
                </a:lnTo>
                <a:lnTo>
                  <a:pt x="120401" y="407383"/>
                </a:lnTo>
                <a:lnTo>
                  <a:pt x="165627" y="423595"/>
                </a:lnTo>
                <a:lnTo>
                  <a:pt x="214888" y="429288"/>
                </a:lnTo>
                <a:lnTo>
                  <a:pt x="224162" y="429035"/>
                </a:lnTo>
                <a:lnTo>
                  <a:pt x="233349" y="428337"/>
                </a:lnTo>
                <a:lnTo>
                  <a:pt x="242358" y="427282"/>
                </a:lnTo>
                <a:lnTo>
                  <a:pt x="251100" y="425960"/>
                </a:lnTo>
                <a:lnTo>
                  <a:pt x="251100" y="98409"/>
                </a:lnTo>
                <a:lnTo>
                  <a:pt x="202022" y="98409"/>
                </a:lnTo>
                <a:lnTo>
                  <a:pt x="185680" y="123895"/>
                </a:lnTo>
                <a:lnTo>
                  <a:pt x="165989" y="136857"/>
                </a:lnTo>
                <a:lnTo>
                  <a:pt x="149425" y="141529"/>
                </a:lnTo>
                <a:lnTo>
                  <a:pt x="142465" y="142146"/>
                </a:lnTo>
                <a:lnTo>
                  <a:pt x="142465" y="187308"/>
                </a:lnTo>
                <a:lnTo>
                  <a:pt x="181058" y="187308"/>
                </a:lnTo>
                <a:lnTo>
                  <a:pt x="181058" y="360830"/>
                </a:lnTo>
                <a:lnTo>
                  <a:pt x="134676" y="341353"/>
                </a:lnTo>
                <a:lnTo>
                  <a:pt x="97676" y="308417"/>
                </a:lnTo>
                <a:lnTo>
                  <a:pt x="73184" y="264963"/>
                </a:lnTo>
                <a:lnTo>
                  <a:pt x="64326" y="213932"/>
                </a:lnTo>
                <a:lnTo>
                  <a:pt x="72025" y="166542"/>
                </a:lnTo>
                <a:lnTo>
                  <a:pt x="93446" y="125315"/>
                </a:lnTo>
                <a:lnTo>
                  <a:pt x="126074" y="92758"/>
                </a:lnTo>
                <a:lnTo>
                  <a:pt x="167393" y="71383"/>
                </a:lnTo>
                <a:lnTo>
                  <a:pt x="214888" y="63701"/>
                </a:lnTo>
                <a:lnTo>
                  <a:pt x="262613" y="71383"/>
                </a:lnTo>
                <a:lnTo>
                  <a:pt x="304073" y="92758"/>
                </a:lnTo>
                <a:lnTo>
                  <a:pt x="336774" y="125315"/>
                </a:lnTo>
                <a:lnTo>
                  <a:pt x="358223" y="166542"/>
                </a:lnTo>
                <a:lnTo>
                  <a:pt x="365927" y="213932"/>
                </a:lnTo>
                <a:lnTo>
                  <a:pt x="359115" y="258960"/>
                </a:lnTo>
                <a:lnTo>
                  <a:pt x="340019" y="298552"/>
                </a:lnTo>
                <a:lnTo>
                  <a:pt x="310649" y="330655"/>
                </a:lnTo>
                <a:lnTo>
                  <a:pt x="273016" y="353220"/>
                </a:lnTo>
                <a:lnTo>
                  <a:pt x="273016" y="421206"/>
                </a:lnTo>
                <a:lnTo>
                  <a:pt x="316262" y="403970"/>
                </a:lnTo>
                <a:lnTo>
                  <a:pt x="354228" y="378244"/>
                </a:lnTo>
                <a:lnTo>
                  <a:pt x="385762" y="345202"/>
                </a:lnTo>
                <a:lnTo>
                  <a:pt x="409711" y="306019"/>
                </a:lnTo>
                <a:lnTo>
                  <a:pt x="424926" y="261870"/>
                </a:lnTo>
                <a:lnTo>
                  <a:pt x="430253" y="213932"/>
                </a:lnTo>
                <a:lnTo>
                  <a:pt x="424574" y="164807"/>
                </a:lnTo>
                <a:lnTo>
                  <a:pt x="408393" y="119750"/>
                </a:lnTo>
                <a:lnTo>
                  <a:pt x="382994" y="80032"/>
                </a:lnTo>
                <a:lnTo>
                  <a:pt x="349660" y="46926"/>
                </a:lnTo>
                <a:lnTo>
                  <a:pt x="309675" y="21704"/>
                </a:lnTo>
                <a:lnTo>
                  <a:pt x="264323" y="5638"/>
                </a:lnTo>
                <a:lnTo>
                  <a:pt x="214888" y="0"/>
                </a:lnTo>
                <a:close/>
              </a:path>
            </a:pathLst>
          </a:custGeom>
          <a:solidFill>
            <a:srgbClr val="0E5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945879" y="6279283"/>
            <a:ext cx="875030" cy="335280"/>
            <a:chOff x="10945879" y="6279283"/>
            <a:chExt cx="875030" cy="335280"/>
          </a:xfrm>
        </p:grpSpPr>
        <p:sp>
          <p:nvSpPr>
            <p:cNvPr id="5" name="object 5"/>
            <p:cNvSpPr/>
            <p:nvPr/>
          </p:nvSpPr>
          <p:spPr>
            <a:xfrm>
              <a:off x="10945876" y="6279286"/>
              <a:ext cx="629920" cy="335280"/>
            </a:xfrm>
            <a:custGeom>
              <a:avLst/>
              <a:gdLst/>
              <a:ahLst/>
              <a:cxnLst/>
              <a:rect l="l" t="t" r="r" b="b"/>
              <a:pathLst>
                <a:path w="629920" h="335279">
                  <a:moveTo>
                    <a:pt x="367372" y="192074"/>
                  </a:moveTo>
                  <a:lnTo>
                    <a:pt x="361543" y="153111"/>
                  </a:lnTo>
                  <a:lnTo>
                    <a:pt x="344665" y="123964"/>
                  </a:lnTo>
                  <a:lnTo>
                    <a:pt x="317703" y="105689"/>
                  </a:lnTo>
                  <a:lnTo>
                    <a:pt x="281571" y="99364"/>
                  </a:lnTo>
                  <a:lnTo>
                    <a:pt x="263055" y="101434"/>
                  </a:lnTo>
                  <a:lnTo>
                    <a:pt x="246265" y="107391"/>
                  </a:lnTo>
                  <a:lnTo>
                    <a:pt x="231521" y="116814"/>
                  </a:lnTo>
                  <a:lnTo>
                    <a:pt x="219151" y="129311"/>
                  </a:lnTo>
                  <a:lnTo>
                    <a:pt x="219151" y="104127"/>
                  </a:lnTo>
                  <a:lnTo>
                    <a:pt x="100533" y="104127"/>
                  </a:lnTo>
                  <a:lnTo>
                    <a:pt x="100533" y="98882"/>
                  </a:lnTo>
                  <a:lnTo>
                    <a:pt x="101879" y="77457"/>
                  </a:lnTo>
                  <a:lnTo>
                    <a:pt x="107683" y="65074"/>
                  </a:lnTo>
                  <a:lnTo>
                    <a:pt x="120624" y="59372"/>
                  </a:lnTo>
                  <a:lnTo>
                    <a:pt x="143383" y="58000"/>
                  </a:lnTo>
                  <a:lnTo>
                    <a:pt x="143383" y="0"/>
                  </a:lnTo>
                  <a:lnTo>
                    <a:pt x="138176" y="0"/>
                  </a:lnTo>
                  <a:lnTo>
                    <a:pt x="90652" y="5016"/>
                  </a:lnTo>
                  <a:lnTo>
                    <a:pt x="59969" y="21577"/>
                  </a:lnTo>
                  <a:lnTo>
                    <a:pt x="43497" y="51955"/>
                  </a:lnTo>
                  <a:lnTo>
                    <a:pt x="38595" y="98412"/>
                  </a:lnTo>
                  <a:lnTo>
                    <a:pt x="38595" y="104127"/>
                  </a:lnTo>
                  <a:lnTo>
                    <a:pt x="0" y="104127"/>
                  </a:lnTo>
                  <a:lnTo>
                    <a:pt x="0" y="159740"/>
                  </a:lnTo>
                  <a:lnTo>
                    <a:pt x="38595" y="159740"/>
                  </a:lnTo>
                  <a:lnTo>
                    <a:pt x="38595" y="329933"/>
                  </a:lnTo>
                  <a:lnTo>
                    <a:pt x="100533" y="329933"/>
                  </a:lnTo>
                  <a:lnTo>
                    <a:pt x="100533" y="159740"/>
                  </a:lnTo>
                  <a:lnTo>
                    <a:pt x="157734" y="159740"/>
                  </a:lnTo>
                  <a:lnTo>
                    <a:pt x="157734" y="329933"/>
                  </a:lnTo>
                  <a:lnTo>
                    <a:pt x="219659" y="329933"/>
                  </a:lnTo>
                  <a:lnTo>
                    <a:pt x="219659" y="206806"/>
                  </a:lnTo>
                  <a:lnTo>
                    <a:pt x="223088" y="182295"/>
                  </a:lnTo>
                  <a:lnTo>
                    <a:pt x="232410" y="165442"/>
                  </a:lnTo>
                  <a:lnTo>
                    <a:pt x="246202" y="155727"/>
                  </a:lnTo>
                  <a:lnTo>
                    <a:pt x="263029" y="152615"/>
                  </a:lnTo>
                  <a:lnTo>
                    <a:pt x="280936" y="155829"/>
                  </a:lnTo>
                  <a:lnTo>
                    <a:pt x="293903" y="165150"/>
                  </a:lnTo>
                  <a:lnTo>
                    <a:pt x="301777" y="180086"/>
                  </a:lnTo>
                  <a:lnTo>
                    <a:pt x="304431" y="200152"/>
                  </a:lnTo>
                  <a:lnTo>
                    <a:pt x="304431" y="329933"/>
                  </a:lnTo>
                  <a:lnTo>
                    <a:pt x="367372" y="329933"/>
                  </a:lnTo>
                  <a:lnTo>
                    <a:pt x="367372" y="192074"/>
                  </a:lnTo>
                  <a:close/>
                </a:path>
                <a:path w="629920" h="335279">
                  <a:moveTo>
                    <a:pt x="629399" y="217258"/>
                  </a:moveTo>
                  <a:lnTo>
                    <a:pt x="619518" y="164947"/>
                  </a:lnTo>
                  <a:lnTo>
                    <a:pt x="613244" y="155943"/>
                  </a:lnTo>
                  <a:lnTo>
                    <a:pt x="594372" y="128841"/>
                  </a:lnTo>
                  <a:lnTo>
                    <a:pt x="593915" y="128181"/>
                  </a:lnTo>
                  <a:lnTo>
                    <a:pt x="568883" y="112776"/>
                  </a:lnTo>
                  <a:lnTo>
                    <a:pt x="568883" y="216789"/>
                  </a:lnTo>
                  <a:lnTo>
                    <a:pt x="564261" y="240944"/>
                  </a:lnTo>
                  <a:lnTo>
                    <a:pt x="551497" y="260235"/>
                  </a:lnTo>
                  <a:lnTo>
                    <a:pt x="532307" y="273011"/>
                  </a:lnTo>
                  <a:lnTo>
                    <a:pt x="508355" y="277647"/>
                  </a:lnTo>
                  <a:lnTo>
                    <a:pt x="482625" y="271691"/>
                  </a:lnTo>
                  <a:lnTo>
                    <a:pt x="463181" y="255714"/>
                  </a:lnTo>
                  <a:lnTo>
                    <a:pt x="452031" y="232511"/>
                  </a:lnTo>
                  <a:lnTo>
                    <a:pt x="451205" y="204901"/>
                  </a:lnTo>
                  <a:lnTo>
                    <a:pt x="458508" y="185089"/>
                  </a:lnTo>
                  <a:lnTo>
                    <a:pt x="472122" y="169367"/>
                  </a:lnTo>
                  <a:lnTo>
                    <a:pt x="490296" y="159181"/>
                  </a:lnTo>
                  <a:lnTo>
                    <a:pt x="511276" y="155943"/>
                  </a:lnTo>
                  <a:lnTo>
                    <a:pt x="534136" y="161302"/>
                  </a:lnTo>
                  <a:lnTo>
                    <a:pt x="552386" y="174244"/>
                  </a:lnTo>
                  <a:lnTo>
                    <a:pt x="564502" y="193243"/>
                  </a:lnTo>
                  <a:lnTo>
                    <a:pt x="568883" y="216789"/>
                  </a:lnTo>
                  <a:lnTo>
                    <a:pt x="568883" y="112776"/>
                  </a:lnTo>
                  <a:lnTo>
                    <a:pt x="558673" y="106489"/>
                  </a:lnTo>
                  <a:lnTo>
                    <a:pt x="519849" y="99364"/>
                  </a:lnTo>
                  <a:lnTo>
                    <a:pt x="498614" y="101498"/>
                  </a:lnTo>
                  <a:lnTo>
                    <a:pt x="480098" y="107505"/>
                  </a:lnTo>
                  <a:lnTo>
                    <a:pt x="464540" y="116814"/>
                  </a:lnTo>
                  <a:lnTo>
                    <a:pt x="452158" y="128841"/>
                  </a:lnTo>
                  <a:lnTo>
                    <a:pt x="452158" y="0"/>
                  </a:lnTo>
                  <a:lnTo>
                    <a:pt x="389724" y="0"/>
                  </a:lnTo>
                  <a:lnTo>
                    <a:pt x="389724" y="329933"/>
                  </a:lnTo>
                  <a:lnTo>
                    <a:pt x="452158" y="329933"/>
                  </a:lnTo>
                  <a:lnTo>
                    <a:pt x="452158" y="305752"/>
                  </a:lnTo>
                  <a:lnTo>
                    <a:pt x="464680" y="317639"/>
                  </a:lnTo>
                  <a:lnTo>
                    <a:pt x="480568" y="326783"/>
                  </a:lnTo>
                  <a:lnTo>
                    <a:pt x="499414" y="332638"/>
                  </a:lnTo>
                  <a:lnTo>
                    <a:pt x="520801" y="334695"/>
                  </a:lnTo>
                  <a:lnTo>
                    <a:pt x="558050" y="327507"/>
                  </a:lnTo>
                  <a:lnTo>
                    <a:pt x="593128" y="305752"/>
                  </a:lnTo>
                  <a:lnTo>
                    <a:pt x="613117" y="277647"/>
                  </a:lnTo>
                  <a:lnTo>
                    <a:pt x="619188" y="269100"/>
                  </a:lnTo>
                  <a:lnTo>
                    <a:pt x="629399" y="217258"/>
                  </a:lnTo>
                  <a:close/>
                </a:path>
              </a:pathLst>
            </a:custGeom>
            <a:solidFill>
              <a:srgbClr val="0E5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86716" y="6379118"/>
              <a:ext cx="233959" cy="2343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3810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FFFFFF"/>
                </a:solidFill>
              </a:rPr>
              <a:t>Research</a:t>
            </a:r>
            <a:r>
              <a:rPr sz="3600" spc="-6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Studies</a:t>
            </a:r>
            <a:r>
              <a:rPr sz="3600" spc="-6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on</a:t>
            </a:r>
            <a:r>
              <a:rPr sz="3600" spc="-4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New</a:t>
            </a:r>
            <a:r>
              <a:rPr sz="3600" spc="-40">
                <a:solidFill>
                  <a:srgbClr val="FFFFFF"/>
                </a:solidFill>
              </a:rPr>
              <a:t> </a:t>
            </a:r>
            <a:r>
              <a:rPr sz="3600">
                <a:solidFill>
                  <a:srgbClr val="FFFFFF"/>
                </a:solidFill>
              </a:rPr>
              <a:t>customer</a:t>
            </a:r>
            <a:r>
              <a:rPr sz="3600" spc="15">
                <a:solidFill>
                  <a:srgbClr val="FFFFFF"/>
                </a:solidFill>
              </a:rPr>
              <a:t> </a:t>
            </a:r>
            <a:r>
              <a:rPr sz="3600" spc="-10">
                <a:solidFill>
                  <a:srgbClr val="FFFFFF"/>
                </a:solidFill>
              </a:rPr>
              <a:t>needs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481348" y="1568132"/>
            <a:ext cx="5213388" cy="4712829"/>
          </a:xfrm>
          <a:prstGeom prst="rect">
            <a:avLst/>
          </a:prstGeom>
        </p:spPr>
        <p:txBody>
          <a:bodyPr vert="horz" wrap="square" lIns="0" tIns="10795" rIns="0" bIns="0" rtlCol="0" anchor="t">
            <a:spAutoFit/>
          </a:bodyPr>
          <a:lstStyle/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r>
              <a:rPr sz="1800" spc="-10">
                <a:latin typeface="Calibri"/>
                <a:cs typeface="Calibri"/>
              </a:rPr>
              <a:t>Rewards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“</a:t>
            </a:r>
            <a:r>
              <a:rPr sz="1800" b="1">
                <a:latin typeface="Calibri"/>
                <a:cs typeface="Calibri"/>
              </a:rPr>
              <a:t>a</a:t>
            </a:r>
            <a:r>
              <a:rPr sz="1800" b="1" spc="-4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major</a:t>
            </a:r>
            <a:r>
              <a:rPr sz="1800" b="1" spc="-2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factor</a:t>
            </a:r>
            <a:r>
              <a:rPr sz="1800">
                <a:latin typeface="Calibri"/>
                <a:cs typeface="Calibri"/>
              </a:rPr>
              <a:t>”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in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card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choice,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but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complex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or</a:t>
            </a:r>
            <a:r>
              <a:rPr sz="1800" b="1" spc="-20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devalued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rewards </a:t>
            </a:r>
            <a:r>
              <a:rPr sz="1800">
                <a:latin typeface="Calibri"/>
                <a:cs typeface="Calibri"/>
              </a:rPr>
              <a:t>drive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complaints;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first-time </a:t>
            </a:r>
            <a:r>
              <a:rPr sz="1800">
                <a:latin typeface="Calibri"/>
                <a:cs typeface="Calibri"/>
              </a:rPr>
              <a:t>users,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fee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transparency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predictable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(e.g.,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simple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cash back,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low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fees)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important.</a:t>
            </a:r>
            <a:r>
              <a:rPr sz="1800" spc="-9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(Consumer </a:t>
            </a:r>
            <a:r>
              <a:rPr sz="1800">
                <a:latin typeface="Calibri"/>
                <a:cs typeface="Calibri"/>
              </a:rPr>
              <a:t>Financial</a:t>
            </a:r>
            <a:r>
              <a:rPr sz="1800" spc="-10">
                <a:latin typeface="Calibri"/>
                <a:cs typeface="Calibri"/>
              </a:rPr>
              <a:t> Protection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Bureau,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Oct</a:t>
            </a:r>
            <a:r>
              <a:rPr sz="1800" spc="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2023)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12065" marR="17145">
              <a:lnSpc>
                <a:spcPts val="2100"/>
              </a:lnSpc>
              <a:tabLst>
                <a:tab pos="298450" algn="l"/>
              </a:tabLst>
            </a:pPr>
            <a:r>
              <a:rPr sz="1800" b="1" spc="-35">
                <a:latin typeface="Calibri"/>
                <a:cs typeface="Calibri"/>
              </a:rPr>
              <a:t>Word-</a:t>
            </a:r>
            <a:r>
              <a:rPr sz="1800" b="1" spc="-10">
                <a:latin typeface="Calibri"/>
                <a:cs typeface="Calibri"/>
              </a:rPr>
              <a:t>of-mouth/personal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recommendations</a:t>
            </a:r>
            <a:r>
              <a:rPr sz="1800" b="1" spc="2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mattered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more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than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ads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financially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stable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group.</a:t>
            </a:r>
            <a:r>
              <a:rPr sz="1800" spc="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(Elan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Credit </a:t>
            </a:r>
            <a:r>
              <a:rPr sz="1800">
                <a:latin typeface="Calibri"/>
                <a:cs typeface="Calibri"/>
              </a:rPr>
              <a:t>card</a:t>
            </a:r>
            <a:r>
              <a:rPr sz="1800" spc="-10">
                <a:latin typeface="Calibri"/>
                <a:cs typeface="Calibri"/>
              </a:rPr>
              <a:t> research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study)</a:t>
            </a:r>
            <a:endParaRPr sz="1800">
              <a:latin typeface="Calibri"/>
              <a:cs typeface="Calibri"/>
            </a:endParaRPr>
          </a:p>
          <a:p>
            <a:pPr marL="12065" marR="810260">
              <a:lnSpc>
                <a:spcPct val="100800"/>
              </a:lnSpc>
              <a:spcBef>
                <a:spcPts val="2120"/>
              </a:spcBef>
              <a:tabLst>
                <a:tab pos="298450" algn="l"/>
              </a:tabLst>
            </a:pPr>
            <a:r>
              <a:rPr sz="1800" b="1" spc="-10">
                <a:latin typeface="Calibri"/>
                <a:cs typeface="Calibri"/>
              </a:rPr>
              <a:t>Approval</a:t>
            </a:r>
            <a:r>
              <a:rPr sz="1800" b="1" spc="-55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likelihood,</a:t>
            </a:r>
            <a:r>
              <a:rPr sz="1800" b="1" spc="-7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initial</a:t>
            </a:r>
            <a:r>
              <a:rPr sz="1800" b="1" spc="-5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limits, and</a:t>
            </a:r>
            <a:r>
              <a:rPr sz="1800" b="1" spc="20">
                <a:latin typeface="Calibri"/>
                <a:cs typeface="Calibri"/>
              </a:rPr>
              <a:t> </a:t>
            </a:r>
            <a:r>
              <a:rPr sz="1800" b="1" spc="-10">
                <a:latin typeface="Calibri"/>
                <a:cs typeface="Calibri"/>
              </a:rPr>
              <a:t>upgrade</a:t>
            </a:r>
            <a:r>
              <a:rPr sz="1800" b="1" spc="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paths</a:t>
            </a:r>
            <a:r>
              <a:rPr sz="1800" b="1" spc="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shape</a:t>
            </a:r>
            <a:r>
              <a:rPr sz="1800" spc="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early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issuer</a:t>
            </a:r>
            <a:r>
              <a:rPr sz="1800" spc="-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choice</a:t>
            </a:r>
            <a:r>
              <a:rPr sz="1800" spc="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long-</a:t>
            </a:r>
            <a:r>
              <a:rPr sz="1800">
                <a:latin typeface="Calibri"/>
                <a:cs typeface="Calibri"/>
              </a:rPr>
              <a:t>term </a:t>
            </a:r>
            <a:r>
              <a:rPr sz="1800" spc="-10">
                <a:latin typeface="Calibri"/>
                <a:cs typeface="Calibri"/>
              </a:rPr>
              <a:t>loyalty. (Transunion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Consumer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Pulse</a:t>
            </a:r>
            <a:r>
              <a:rPr sz="1800" spc="-9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Study,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Q2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2024)</a:t>
            </a:r>
            <a:endParaRPr sz="1800">
              <a:latin typeface="Calibri"/>
              <a:cs typeface="Calibri"/>
            </a:endParaRPr>
          </a:p>
          <a:p>
            <a:pPr>
              <a:spcBef>
                <a:spcPts val="2085"/>
              </a:spcBef>
              <a:tabLst>
                <a:tab pos="298450" algn="l"/>
              </a:tabLst>
            </a:pPr>
            <a:endParaRPr sz="1800">
              <a:latin typeface="Calibri"/>
              <a:cs typeface="Calibri"/>
            </a:endParaRPr>
          </a:p>
          <a:p>
            <a:pPr marL="12700" marR="31115">
              <a:lnSpc>
                <a:spcPct val="100800"/>
              </a:lnSpc>
            </a:pPr>
            <a:endParaRPr sz="1800" spc="-1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C290C-6E7D-1B3E-9BFE-9D6621B1181B}"/>
              </a:ext>
            </a:extLst>
          </p:cNvPr>
          <p:cNvSpPr txBox="1"/>
          <p:nvPr/>
        </p:nvSpPr>
        <p:spPr>
          <a:xfrm>
            <a:off x="6081058" y="1456765"/>
            <a:ext cx="575982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065" algn="l" rtl="0"/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FICO says Fraud/scam pressure is elevated,</a:t>
            </a:r>
            <a:r>
              <a:rPr lang="en-US">
                <a:solidFill>
                  <a:srgbClr val="000000"/>
                </a:solidFill>
                <a:latin typeface="Calibri"/>
                <a:ea typeface="Arial"/>
                <a:cs typeface="Arial"/>
              </a:rPr>
              <a:t>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pushing 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security up the priority stack </a:t>
            </a:r>
            <a:r>
              <a:rPr lang="en-US" b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for account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 opening decisions.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(Top factor for 1in 3 Americans)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/>
          </a:p>
          <a:p>
            <a:pPr marL="12065" algn="l"/>
            <a:endParaRPr lang="en-US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12700" algn="l" rtl="0"/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Virtual Card options for online purchases 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is </a:t>
            </a:r>
            <a:r>
              <a:rPr lang="en-US">
                <a:solidFill>
                  <a:srgbClr val="000000"/>
                </a:solidFill>
                <a:latin typeface="Calibri"/>
                <a:ea typeface="Arial"/>
                <a:cs typeface="Arial"/>
              </a:rPr>
              <a:t>a popular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 feature that's standing out. (US 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PaymentsForum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)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10" name="Picture 9" descr="A white sign with black text&#10;&#10;AI-generated content may be incorrect.">
            <a:extLst>
              <a:ext uri="{FF2B5EF4-FFF2-40B4-BE49-F238E27FC236}">
                <a16:creationId xmlns:a16="http://schemas.microsoft.com/office/drawing/2014/main" id="{EDEE1B01-2CDD-CBB5-E80D-D659FAE26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97" y="5545736"/>
            <a:ext cx="10152530" cy="90629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D5FA-9AEA-3C50-60BF-2EE65A74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DBAB-3BFF-C749-DC24-A49DB250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Closing 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F2BF3-652F-C3A8-6BE0-98BC867C9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234" y="972740"/>
            <a:ext cx="10832167" cy="4124206"/>
          </a:xfrm>
        </p:spPr>
        <p:txBody>
          <a:bodyPr wrap="square" lIns="0" tIns="0" rIns="0" bIns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800" dirty="0">
                <a:latin typeface="Calibri"/>
                <a:ea typeface="Calibri"/>
              </a:rPr>
              <a:t>Analyzed 10,000 secured card accounts to uncover key spending, utilization, and regional trends.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800" dirty="0">
                <a:latin typeface="Calibri"/>
                <a:ea typeface="Calibri"/>
              </a:rPr>
              <a:t>Identified four customer segments from high-value, low-risk to high-risk, low-spend,  enabling FNBO to target engagement strategies 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800" dirty="0">
                <a:latin typeface="Calibri"/>
                <a:ea typeface="Calibri"/>
              </a:rPr>
              <a:t>Built models to predict FICO improvement and churn likelihood.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800" dirty="0">
                <a:latin typeface="Calibri"/>
                <a:ea typeface="Calibri"/>
              </a:rPr>
              <a:t>Outlined a clear roadmap across Credit Line &amp; Risk, Product &amp; Rewards, and Growth &amp; Reactivation.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800" dirty="0">
                <a:latin typeface="Calibri"/>
                <a:ea typeface="Calibri"/>
              </a:rPr>
              <a:t>Insights empower FNBO to reduce risk, boost engagement, and drive sustainable growth for new-to-credit customers.</a:t>
            </a:r>
          </a:p>
          <a:p>
            <a:pPr algn="just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51576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5759" y="2478786"/>
            <a:ext cx="3529329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>
                <a:solidFill>
                  <a:srgbClr val="000000"/>
                </a:solidFill>
                <a:latin typeface="Arial"/>
                <a:cs typeface="Arial"/>
              </a:rPr>
              <a:t>Discussion,</a:t>
            </a:r>
            <a:r>
              <a:rPr sz="3600" b="1" spc="-25">
                <a:solidFill>
                  <a:srgbClr val="000000"/>
                </a:solidFill>
                <a:latin typeface="Arial"/>
                <a:cs typeface="Arial"/>
              </a:rPr>
              <a:t> Q/A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+ Thousand Professional Thank You Royalty-Free Images, Stock Photos &amp;  Pictures | Shutterstock">
            <a:extLst>
              <a:ext uri="{FF2B5EF4-FFF2-40B4-BE49-F238E27FC236}">
                <a16:creationId xmlns:a16="http://schemas.microsoft.com/office/drawing/2014/main" id="{1A5AA120-26AA-4925-E7A1-9EFB585C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7105650" cy="3124200"/>
          </a:xfrm>
          <a:prstGeom prst="rect">
            <a:avLst/>
          </a:prstGeom>
        </p:spPr>
      </p:pic>
      <p:pic>
        <p:nvPicPr>
          <p:cNvPr id="5" name="Picture 4" descr="University of Nebraska Omaha Mavericks ...">
            <a:extLst>
              <a:ext uri="{FF2B5EF4-FFF2-40B4-BE49-F238E27FC236}">
                <a16:creationId xmlns:a16="http://schemas.microsoft.com/office/drawing/2014/main" id="{6245D98F-C088-BC00-E62D-7A082549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322" y="2439614"/>
            <a:ext cx="1986243" cy="1986243"/>
          </a:xfrm>
          <a:prstGeom prst="rect">
            <a:avLst/>
          </a:prstGeom>
        </p:spPr>
      </p:pic>
      <p:pic>
        <p:nvPicPr>
          <p:cNvPr id="7" name="Picture 6" descr="First National Bank Omaha.png">
            <a:extLst>
              <a:ext uri="{FF2B5EF4-FFF2-40B4-BE49-F238E27FC236}">
                <a16:creationId xmlns:a16="http://schemas.microsoft.com/office/drawing/2014/main" id="{A677F315-2E17-68F6-7165-BA831959C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2353544"/>
            <a:ext cx="3048000" cy="17127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B70C3B-E9E4-0F67-35FC-1BE19F47C221}"/>
              </a:ext>
            </a:extLst>
          </p:cNvPr>
          <p:cNvSpPr txBox="1"/>
          <p:nvPr/>
        </p:nvSpPr>
        <p:spPr>
          <a:xfrm>
            <a:off x="7698441" y="1378324"/>
            <a:ext cx="428438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b="1" err="1">
                <a:solidFill>
                  <a:srgbClr val="016441"/>
                </a:solidFill>
                <a:latin typeface="Arial MT"/>
              </a:rPr>
              <a:t>First</a:t>
            </a:r>
            <a:r>
              <a:rPr lang="en-US" sz="7200" b="1" err="1">
                <a:solidFill>
                  <a:srgbClr val="1C191A"/>
                </a:solidFill>
                <a:latin typeface="Arial MT"/>
              </a:rPr>
              <a:t>Mav</a:t>
            </a:r>
            <a:endParaRPr lang="en-US" sz="7200" b="1">
              <a:solidFill>
                <a:srgbClr val="1C191A"/>
              </a:solidFill>
              <a:latin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9195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Datathon 2025</vt:lpstr>
      <vt:lpstr>FirstMav Introduction</vt:lpstr>
      <vt:lpstr>Agenda</vt:lpstr>
      <vt:lpstr>PowerPoint Presentation</vt:lpstr>
      <vt:lpstr>PowerPoint Presentation</vt:lpstr>
      <vt:lpstr>Overview of data</vt:lpstr>
      <vt:lpstr>Secured Credit Card Customers. Who are they?</vt:lpstr>
      <vt:lpstr>Total Spend and transaction count by Generation</vt:lpstr>
      <vt:lpstr>Where are the customers?</vt:lpstr>
      <vt:lpstr>Credit Utilization</vt:lpstr>
      <vt:lpstr>Customer Distribution by Credit Score Group</vt:lpstr>
      <vt:lpstr>Top Spending Category by generation</vt:lpstr>
      <vt:lpstr>FICO at Account opening vs. Now</vt:lpstr>
      <vt:lpstr>FICO Score Trend</vt:lpstr>
      <vt:lpstr>Customer Behavior Segments</vt:lpstr>
      <vt:lpstr>PowerPoint Presentation</vt:lpstr>
      <vt:lpstr>High Risk Customers</vt:lpstr>
      <vt:lpstr>High Risk Behaviors</vt:lpstr>
      <vt:lpstr>Data Driven Predictions</vt:lpstr>
      <vt:lpstr>Model used to predict credit improvement</vt:lpstr>
      <vt:lpstr>Predicted improvement by generation and state</vt:lpstr>
      <vt:lpstr>Predicted improvement, by monthly income and credit utilization</vt:lpstr>
      <vt:lpstr>Who may become inactive?</vt:lpstr>
      <vt:lpstr>Who may become inactive?</vt:lpstr>
      <vt:lpstr>Predictive Insights Summary</vt:lpstr>
      <vt:lpstr>Opportunities &amp; Strategic Actions:</vt:lpstr>
      <vt:lpstr>Research Studies on New customer needs</vt:lpstr>
      <vt:lpstr>Conclusion &amp; Closing Thoughts</vt:lpstr>
      <vt:lpstr>Discussion, Q/A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92</cp:revision>
  <dcterms:created xsi:type="dcterms:W3CDTF">2025-10-24T21:55:38Z</dcterms:created>
  <dcterms:modified xsi:type="dcterms:W3CDTF">2025-12-14T23:28:14Z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2025-10-24T00:00:00Z</vt:filetime>
  </property>
  <property fmtid="{D5CDD505-2E9C-101B-9397-08002B2CF9AE}" pid="3" name="LastSaved">
    <vt:filetime>2025-10-24T00:00:00Z</vt:filetime>
  </property>
</Properties>
</file>